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9" r:id="rId2"/>
    <p:sldId id="260" r:id="rId3"/>
    <p:sldId id="261" r:id="rId4"/>
    <p:sldId id="262" r:id="rId5"/>
    <p:sldId id="256" r:id="rId6"/>
    <p:sldId id="257" r:id="rId7"/>
    <p:sldId id="258" r:id="rId8"/>
  </p:sldIdLst>
  <p:sldSz cx="21945600" cy="12344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38" d="100"/>
          <a:sy n="38" d="100"/>
        </p:scale>
        <p:origin x="80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8A5D5F-DFCD-4B0E-BF76-E86C15A1B5E9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FC2B67-3120-4C9E-8191-D1BD3FC46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706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C2B67-3120-4C9E-8191-D1BD3FC4627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1265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C2B67-3120-4C9E-8191-D1BD3FC4627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3059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97280" y="502920"/>
            <a:ext cx="19751040" cy="1811393"/>
          </a:xfrm>
          <a:prstGeom prst="rect">
            <a:avLst/>
          </a:prstGeom>
          <a:noFill/>
        </p:spPr>
        <p:txBody>
          <a:bodyPr wrap="square" lIns="90000" rIns="90000" anchor="t">
            <a:spAutoFit/>
          </a:bodyPr>
          <a:lstStyle/>
          <a:p>
            <a:pPr algn="ctr" rtl="1">
              <a:lnSpc>
                <a:spcPct val="118000"/>
              </a:lnSpc>
              <a:spcAft>
                <a:spcPts val="600"/>
              </a:spcAft>
            </a:pPr>
            <a:r>
              <a:rPr lang="fa-IR" altLang="ar-SA" sz="6000" b="1" dirty="0">
                <a:solidFill>
                  <a:srgbClr val="F1C40F"/>
                </a:solidFill>
                <a:latin typeface="Tahoma"/>
                <a:ea typeface="Tahoma"/>
                <a:cs typeface="Tahoma"/>
                <a:sym typeface="Tahoma"/>
              </a:rPr>
              <a:t>سوره لیل — سیستم جهان</a:t>
            </a:r>
          </a:p>
          <a:p>
            <a:pPr algn="ctr" rtl="1">
              <a:lnSpc>
                <a:spcPct val="118000"/>
              </a:lnSpc>
              <a:spcAft>
                <a:spcPts val="0"/>
              </a:spcAft>
            </a:pPr>
            <a:r>
              <a:rPr lang="fa-IR" altLang="ar-SA" sz="3400" b="1" dirty="0">
                <a:solidFill>
                  <a:srgbClr val="D6E4F0"/>
                </a:solidFill>
                <a:highlight>
                  <a:srgbClr val="000000"/>
                </a:highlight>
                <a:latin typeface="Tahoma"/>
                <a:ea typeface="Tahoma"/>
                <a:cs typeface="Tahoma"/>
                <a:sym typeface="Tahoma"/>
              </a:rPr>
              <a:t>ورودی  ←  پردازش  ←  خروجی   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2240280"/>
            <a:ext cx="9144000" cy="41148"/>
          </a:xfrm>
          <a:prstGeom prst="rect">
            <a:avLst/>
          </a:prstGeom>
          <a:solidFill>
            <a:srgbClr val="F1C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338560" y="3017520"/>
            <a:ext cx="8778240" cy="7498079"/>
          </a:xfrm>
          <a:prstGeom prst="roundRect">
            <a:avLst/>
          </a:prstGeom>
          <a:solidFill>
            <a:srgbClr val="0E3B24">
              <a:alpha val="78000"/>
            </a:srgbClr>
          </a:solidFill>
          <a:ln w="4445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750040" y="3474720"/>
            <a:ext cx="7955280" cy="6583679"/>
          </a:xfrm>
          <a:prstGeom prst="rect">
            <a:avLst/>
          </a:prstGeom>
          <a:noFill/>
        </p:spPr>
        <p:txBody>
          <a:bodyPr wrap="square" lIns="90000" rIns="90000" anchor="ctr">
            <a:spAutoFit/>
          </a:bodyPr>
          <a:lstStyle/>
          <a:p>
            <a:pPr algn="ctr" rtl="1">
              <a:lnSpc>
                <a:spcPct val="118000"/>
              </a:lnSpc>
              <a:spcAft>
                <a:spcPts val="1800"/>
              </a:spcAft>
            </a:pPr>
            <a:r>
              <a:rPr lang="fa-IR" altLang="ar-SA" sz="4400" b="1" dirty="0">
                <a:solidFill>
                  <a:srgbClr val="2ECC71"/>
                </a:solidFill>
                <a:latin typeface="Tahoma"/>
                <a:ea typeface="Tahoma"/>
                <a:cs typeface="Tahoma"/>
                <a:sym typeface="Tahoma"/>
              </a:rPr>
              <a:t>مسیر آسانی (یُسرى)</a:t>
            </a:r>
          </a:p>
          <a:p>
            <a:pPr algn="ctr" rtl="1">
              <a:lnSpc>
                <a:spcPct val="118000"/>
              </a:lnSpc>
              <a:spcAft>
                <a:spcPts val="2400"/>
              </a:spcAft>
            </a:pPr>
            <a:r>
              <a:rPr lang="fa-IR" altLang="ar-SA" sz="3000" b="0" dirty="0">
                <a:solidFill>
                  <a:srgbClr val="D6E4F0"/>
                </a:solidFill>
                <a:latin typeface="Tahoma"/>
                <a:ea typeface="Tahoma"/>
                <a:cs typeface="Tahoma"/>
                <a:sym typeface="Tahoma"/>
              </a:rPr>
              <a:t>چطور زندگی‌مان روال می‌افتد و آسان می‌شود؟</a:t>
            </a:r>
          </a:p>
          <a:p>
            <a:pPr algn="ctr" rtl="1">
              <a:lnSpc>
                <a:spcPct val="118000"/>
              </a:lnSpc>
              <a:spcAft>
                <a:spcPts val="1800"/>
              </a:spcAft>
            </a:pPr>
            <a:r>
              <a:rPr lang="fa-IR" altLang="ar-SA" sz="3600" b="1" dirty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فَأَمَّا مَنْ أَعْطَىٰ  +  وَاتَّقَىٰ  +  وَصَدَّقَ بِالْحُسْنَىٰ</a:t>
            </a:r>
          </a:p>
          <a:p>
            <a:pPr algn="ctr" rtl="1">
              <a:lnSpc>
                <a:spcPct val="118000"/>
              </a:lnSpc>
              <a:spcAft>
                <a:spcPts val="1800"/>
              </a:spcAft>
            </a:pPr>
            <a:r>
              <a:rPr lang="fa-IR" altLang="ar-SA" sz="4000" b="1" dirty="0">
                <a:solidFill>
                  <a:srgbClr val="2ECC71"/>
                </a:solidFill>
                <a:latin typeface="Tahoma"/>
                <a:ea typeface="Tahoma"/>
                <a:cs typeface="Tahoma"/>
                <a:sym typeface="Tahoma"/>
              </a:rPr>
              <a:t>⟵</a:t>
            </a:r>
          </a:p>
          <a:p>
            <a:pPr algn="ctr" rtl="1">
              <a:lnSpc>
                <a:spcPct val="118000"/>
              </a:lnSpc>
              <a:spcAft>
                <a:spcPts val="2000"/>
              </a:spcAft>
            </a:pPr>
            <a:r>
              <a:rPr lang="fa-IR" altLang="ar-SA" sz="4000" b="1" dirty="0">
                <a:solidFill>
                  <a:srgbClr val="2ECC71"/>
                </a:solidFill>
                <a:latin typeface="Tahoma"/>
                <a:ea typeface="Tahoma"/>
                <a:cs typeface="Tahoma"/>
                <a:sym typeface="Tahoma"/>
              </a:rPr>
              <a:t>فَسَنُيَسِّرُهُ لِلْيُسْرَىٰ</a:t>
            </a:r>
          </a:p>
          <a:p>
            <a:pPr algn="ctr" rtl="1">
              <a:lnSpc>
                <a:spcPct val="118000"/>
              </a:lnSpc>
              <a:spcAft>
                <a:spcPts val="0"/>
              </a:spcAft>
            </a:pPr>
            <a:r>
              <a:rPr lang="fa-IR" altLang="ar-SA" sz="2600" b="0" dirty="0">
                <a:solidFill>
                  <a:srgbClr val="D6E4F0"/>
                </a:solidFill>
                <a:latin typeface="Tahoma"/>
                <a:ea typeface="Tahoma"/>
                <a:cs typeface="Tahoma"/>
                <a:sym typeface="Tahoma"/>
              </a:rPr>
              <a:t>آیات ۵ تا ۷ سوره لیل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3017520"/>
            <a:ext cx="8778240" cy="7498079"/>
          </a:xfrm>
          <a:prstGeom prst="roundRect">
            <a:avLst/>
          </a:prstGeom>
          <a:solidFill>
            <a:srgbClr val="45120C">
              <a:alpha val="78000"/>
            </a:srgbClr>
          </a:solidFill>
          <a:ln w="4445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40280" y="3474720"/>
            <a:ext cx="7955280" cy="6583679"/>
          </a:xfrm>
          <a:prstGeom prst="rect">
            <a:avLst/>
          </a:prstGeom>
          <a:noFill/>
        </p:spPr>
        <p:txBody>
          <a:bodyPr wrap="square" lIns="90000" rIns="90000" anchor="ctr">
            <a:spAutoFit/>
          </a:bodyPr>
          <a:lstStyle/>
          <a:p>
            <a:pPr algn="ctr" rtl="1">
              <a:lnSpc>
                <a:spcPct val="118000"/>
              </a:lnSpc>
              <a:spcAft>
                <a:spcPts val="1800"/>
              </a:spcAft>
            </a:pPr>
            <a:r>
              <a:rPr lang="fa-IR" altLang="ar-SA" sz="4400" b="1" dirty="0">
                <a:solidFill>
                  <a:srgbClr val="E74C3C"/>
                </a:solidFill>
                <a:latin typeface="Tahoma"/>
                <a:ea typeface="Tahoma"/>
                <a:cs typeface="Tahoma"/>
                <a:sym typeface="Tahoma"/>
              </a:rPr>
              <a:t>مسیر سختی (عُسرى)</a:t>
            </a:r>
          </a:p>
          <a:p>
            <a:pPr algn="ctr" rtl="1">
              <a:lnSpc>
                <a:spcPct val="118000"/>
              </a:lnSpc>
              <a:spcAft>
                <a:spcPts val="2400"/>
              </a:spcAft>
            </a:pPr>
            <a:r>
              <a:rPr lang="fa-IR" altLang="ar-SA" sz="3000" b="0" dirty="0">
                <a:solidFill>
                  <a:srgbClr val="D6E4F0"/>
                </a:solidFill>
                <a:latin typeface="Tahoma"/>
                <a:ea typeface="Tahoma"/>
                <a:cs typeface="Tahoma"/>
                <a:sym typeface="Tahoma"/>
              </a:rPr>
              <a:t>چطور در زندگی به سختی و مشکلات می‌افتیم؟</a:t>
            </a:r>
          </a:p>
          <a:p>
            <a:pPr algn="ctr" rtl="1">
              <a:lnSpc>
                <a:spcPct val="118000"/>
              </a:lnSpc>
              <a:spcAft>
                <a:spcPts val="1800"/>
              </a:spcAft>
            </a:pPr>
            <a:r>
              <a:rPr lang="fa-IR" altLang="ar-SA" sz="3600" b="1" dirty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وَأَمَّا مَنْ بَخِلَ  +  وَاسْتَغْنَىٰ  +  وَكَذَّبَ بِالْحُسْنَىٰ</a:t>
            </a:r>
          </a:p>
          <a:p>
            <a:pPr algn="ctr" rtl="1">
              <a:lnSpc>
                <a:spcPct val="118000"/>
              </a:lnSpc>
              <a:spcAft>
                <a:spcPts val="1800"/>
              </a:spcAft>
            </a:pPr>
            <a:r>
              <a:rPr lang="fa-IR" altLang="ar-SA" sz="4000" b="1" dirty="0">
                <a:solidFill>
                  <a:srgbClr val="E74C3C"/>
                </a:solidFill>
                <a:latin typeface="Tahoma"/>
                <a:ea typeface="Tahoma"/>
                <a:cs typeface="Tahoma"/>
                <a:sym typeface="Tahoma"/>
              </a:rPr>
              <a:t>⟵</a:t>
            </a:r>
          </a:p>
          <a:p>
            <a:pPr algn="ctr" rtl="1">
              <a:lnSpc>
                <a:spcPct val="118000"/>
              </a:lnSpc>
              <a:spcAft>
                <a:spcPts val="2000"/>
              </a:spcAft>
            </a:pPr>
            <a:r>
              <a:rPr lang="fa-IR" altLang="ar-SA" sz="4000" b="1" dirty="0">
                <a:solidFill>
                  <a:srgbClr val="E74C3C"/>
                </a:solidFill>
                <a:latin typeface="Tahoma"/>
                <a:ea typeface="Tahoma"/>
                <a:cs typeface="Tahoma"/>
                <a:sym typeface="Tahoma"/>
              </a:rPr>
              <a:t>فَسَنُيَسِّرُهُ لِلْعُسْرَىٰ</a:t>
            </a:r>
          </a:p>
          <a:p>
            <a:pPr algn="ctr" rtl="1">
              <a:lnSpc>
                <a:spcPct val="118000"/>
              </a:lnSpc>
              <a:spcAft>
                <a:spcPts val="0"/>
              </a:spcAft>
            </a:pPr>
            <a:r>
              <a:rPr lang="fa-IR" altLang="ar-SA" sz="2600" b="0" dirty="0">
                <a:solidFill>
                  <a:srgbClr val="D6E4F0"/>
                </a:solidFill>
                <a:latin typeface="Tahoma"/>
                <a:ea typeface="Tahoma"/>
                <a:cs typeface="Tahoma"/>
                <a:sym typeface="Tahoma"/>
              </a:rPr>
              <a:t>آیات ۸ تا ۱۰ سوره لیل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97280" y="502920"/>
            <a:ext cx="19751040" cy="1811393"/>
          </a:xfrm>
          <a:prstGeom prst="rect">
            <a:avLst/>
          </a:prstGeom>
          <a:noFill/>
        </p:spPr>
        <p:txBody>
          <a:bodyPr wrap="square" lIns="90000" rIns="90000" anchor="t">
            <a:spAutoFit/>
          </a:bodyPr>
          <a:lstStyle/>
          <a:p>
            <a:pPr algn="ctr" rtl="1">
              <a:lnSpc>
                <a:spcPct val="118000"/>
              </a:lnSpc>
              <a:spcAft>
                <a:spcPts val="600"/>
              </a:spcAft>
            </a:pPr>
            <a:r>
              <a:rPr lang="fa-IR" altLang="ar-SA" sz="6000" b="1" dirty="0">
                <a:solidFill>
                  <a:srgbClr val="2ECC71"/>
                </a:solidFill>
                <a:latin typeface="Tahoma"/>
                <a:ea typeface="Tahoma"/>
                <a:cs typeface="Tahoma"/>
                <a:sym typeface="Tahoma"/>
              </a:rPr>
              <a:t>مسیر یُسرى — آیات ۵ تا ۷</a:t>
            </a:r>
          </a:p>
          <a:p>
            <a:pPr algn="ctr" rtl="1">
              <a:lnSpc>
                <a:spcPct val="118000"/>
              </a:lnSpc>
              <a:spcAft>
                <a:spcPts val="0"/>
              </a:spcAft>
            </a:pPr>
            <a:r>
              <a:rPr lang="fa-IR" altLang="ar-SA" sz="3400" b="0" dirty="0">
                <a:solidFill>
                  <a:srgbClr val="D6E4F0"/>
                </a:solidFill>
                <a:highlight>
                  <a:srgbClr val="000000"/>
                </a:highlight>
                <a:latin typeface="Tahoma"/>
                <a:ea typeface="Tahoma"/>
                <a:cs typeface="Tahoma"/>
                <a:sym typeface="Tahoma"/>
              </a:rPr>
              <a:t>فَأَمَّا مَنْ أَعْطَىٰ وَاتَّقَىٰ • وَصَدَّقَ بِالْحُسْنَىٰ • فَسَنُيَسِّرُهُ لِلْيُسْرَىٰ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2240280"/>
            <a:ext cx="9144000" cy="41148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63040" y="2514600"/>
            <a:ext cx="19019520" cy="1005840"/>
          </a:xfrm>
          <a:prstGeom prst="rect">
            <a:avLst/>
          </a:prstGeom>
          <a:noFill/>
        </p:spPr>
        <p:txBody>
          <a:bodyPr wrap="square" lIns="90000" rIns="90000" anchor="t">
            <a:spAutoFit/>
          </a:bodyPr>
          <a:lstStyle/>
          <a:p>
            <a:pPr algn="ctr" rtl="1">
              <a:lnSpc>
                <a:spcPct val="118000"/>
              </a:lnSpc>
              <a:spcAft>
                <a:spcPts val="0"/>
              </a:spcAft>
            </a:pPr>
            <a:r>
              <a:rPr lang="fa-IR" altLang="ar-SA" sz="3800" b="1" dirty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چطور زندگی‌مان روال می‌افتد و آسان می‌شود؟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276320" y="4114800"/>
            <a:ext cx="5852160" cy="6035040"/>
          </a:xfrm>
          <a:prstGeom prst="roundRect">
            <a:avLst/>
          </a:prstGeom>
          <a:solidFill>
            <a:srgbClr val="0E3B24">
              <a:alpha val="78000"/>
            </a:srgbClr>
          </a:solidFill>
          <a:ln w="4445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550640" y="4526280"/>
            <a:ext cx="5303520" cy="5212080"/>
          </a:xfrm>
          <a:prstGeom prst="rect">
            <a:avLst/>
          </a:prstGeom>
          <a:noFill/>
        </p:spPr>
        <p:txBody>
          <a:bodyPr wrap="square" lIns="90000" rIns="90000" anchor="ctr">
            <a:spAutoFit/>
          </a:bodyPr>
          <a:lstStyle/>
          <a:p>
            <a:pPr algn="ctr" rtl="1">
              <a:lnSpc>
                <a:spcPct val="118000"/>
              </a:lnSpc>
              <a:spcAft>
                <a:spcPts val="1600"/>
              </a:spcAft>
            </a:pPr>
            <a:r>
              <a:rPr lang="fa-IR" altLang="ar-SA" sz="3200" b="1" dirty="0">
                <a:solidFill>
                  <a:srgbClr val="2ECC71"/>
                </a:solidFill>
                <a:latin typeface="Tahoma"/>
                <a:ea typeface="Tahoma"/>
                <a:cs typeface="Tahoma"/>
                <a:sym typeface="Tahoma"/>
              </a:rPr>
              <a:t>باکس ورودی سیستم جهان</a:t>
            </a:r>
          </a:p>
          <a:p>
            <a:pPr algn="ctr" rtl="1">
              <a:lnSpc>
                <a:spcPct val="118000"/>
              </a:lnSpc>
              <a:spcAft>
                <a:spcPts val="1200"/>
              </a:spcAft>
            </a:pPr>
            <a:r>
              <a:rPr lang="fa-IR" altLang="ar-SA" sz="3600" b="1" dirty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•  أَعْطَىٰ</a:t>
            </a:r>
          </a:p>
          <a:p>
            <a:pPr algn="ctr" rtl="1">
              <a:lnSpc>
                <a:spcPct val="118000"/>
              </a:lnSpc>
              <a:spcAft>
                <a:spcPts val="1200"/>
              </a:spcAft>
            </a:pPr>
            <a:r>
              <a:rPr lang="fa-IR" altLang="ar-SA" sz="3600" b="1" dirty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•  وَاتَّقَىٰ</a:t>
            </a:r>
          </a:p>
          <a:p>
            <a:pPr algn="ctr" rtl="1">
              <a:lnSpc>
                <a:spcPct val="118000"/>
              </a:lnSpc>
              <a:spcAft>
                <a:spcPts val="1200"/>
              </a:spcAft>
            </a:pPr>
            <a:r>
              <a:rPr lang="fa-IR" altLang="ar-SA" sz="3600" b="1" dirty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•  وَصَدَّقَ بِالْحُسْنَىٰ</a:t>
            </a:r>
          </a:p>
          <a:p>
            <a:pPr algn="ctr" rtl="1">
              <a:lnSpc>
                <a:spcPct val="118000"/>
              </a:lnSpc>
              <a:spcAft>
                <a:spcPts val="0"/>
              </a:spcAft>
            </a:pPr>
            <a:r>
              <a:rPr lang="fa-IR" altLang="ar-SA" sz="2400" b="0" dirty="0">
                <a:solidFill>
                  <a:srgbClr val="D6E4F0"/>
                </a:solidFill>
                <a:latin typeface="Tahoma"/>
                <a:ea typeface="Tahoma"/>
                <a:cs typeface="Tahoma"/>
                <a:sym typeface="Tahoma"/>
              </a:rPr>
              <a:t>ورودی‌های انتخابی انسان</a:t>
            </a:r>
          </a:p>
        </p:txBody>
      </p:sp>
      <p:sp>
        <p:nvSpPr>
          <p:cNvPr id="8" name="Left Arrow 7"/>
          <p:cNvSpPr/>
          <p:nvPr/>
        </p:nvSpPr>
        <p:spPr>
          <a:xfrm>
            <a:off x="14401800" y="6629400"/>
            <a:ext cx="1371600" cy="1005840"/>
          </a:xfrm>
          <a:prstGeom prst="leftArrow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046720" y="4114800"/>
            <a:ext cx="5852160" cy="6035040"/>
          </a:xfrm>
          <a:prstGeom prst="roundRect">
            <a:avLst/>
          </a:prstGeom>
          <a:solidFill>
            <a:srgbClr val="0C243B">
              <a:alpha val="78000"/>
            </a:srgbClr>
          </a:solidFill>
          <a:ln w="44450">
            <a:solidFill>
              <a:srgbClr val="5DA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40" y="4526280"/>
            <a:ext cx="5303520" cy="5212080"/>
          </a:xfrm>
          <a:prstGeom prst="rect">
            <a:avLst/>
          </a:prstGeom>
          <a:noFill/>
        </p:spPr>
        <p:txBody>
          <a:bodyPr wrap="square" lIns="90000" rIns="90000" anchor="ctr">
            <a:spAutoFit/>
          </a:bodyPr>
          <a:lstStyle/>
          <a:p>
            <a:pPr algn="ctr" rtl="1">
              <a:lnSpc>
                <a:spcPct val="118000"/>
              </a:lnSpc>
              <a:spcAft>
                <a:spcPts val="2000"/>
              </a:spcAft>
            </a:pPr>
            <a:r>
              <a:rPr lang="fa-IR" altLang="ar-SA" sz="3200" b="1" dirty="0">
                <a:solidFill>
                  <a:srgbClr val="5DADE2"/>
                </a:solidFill>
                <a:latin typeface="Tahoma"/>
                <a:ea typeface="Tahoma"/>
                <a:cs typeface="Tahoma"/>
                <a:sym typeface="Tahoma"/>
              </a:rPr>
              <a:t>باکس پردازش سیستم جهان</a:t>
            </a:r>
          </a:p>
          <a:p>
            <a:pPr algn="ctr" rtl="1">
              <a:lnSpc>
                <a:spcPct val="118000"/>
              </a:lnSpc>
              <a:spcAft>
                <a:spcPts val="2000"/>
              </a:spcAft>
            </a:pPr>
            <a:r>
              <a:rPr lang="fa-IR" altLang="ar-SA" sz="4600" b="1" dirty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فَسَنُيَسِّرُهُ</a:t>
            </a:r>
          </a:p>
          <a:p>
            <a:pPr algn="ctr" rtl="1">
              <a:lnSpc>
                <a:spcPct val="118000"/>
              </a:lnSpc>
              <a:spcAft>
                <a:spcPts val="0"/>
              </a:spcAft>
            </a:pPr>
            <a:r>
              <a:rPr lang="fa-IR" altLang="ar-SA" sz="2800" b="0" dirty="0">
                <a:solidFill>
                  <a:srgbClr val="D6E4F0"/>
                </a:solidFill>
                <a:latin typeface="Tahoma"/>
                <a:ea typeface="Tahoma"/>
                <a:cs typeface="Tahoma"/>
                <a:sym typeface="Tahoma"/>
              </a:rPr>
              <a:t>پردازش و تسهیل الهی در مسیر</a:t>
            </a:r>
          </a:p>
        </p:txBody>
      </p:sp>
      <p:sp>
        <p:nvSpPr>
          <p:cNvPr id="11" name="Left Arrow 10"/>
          <p:cNvSpPr/>
          <p:nvPr/>
        </p:nvSpPr>
        <p:spPr>
          <a:xfrm>
            <a:off x="6172200" y="6629400"/>
            <a:ext cx="1371600" cy="1005840"/>
          </a:xfrm>
          <a:prstGeom prst="leftArrow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-182880" y="4114800"/>
            <a:ext cx="5852160" cy="6035040"/>
          </a:xfrm>
          <a:prstGeom prst="roundRect">
            <a:avLst/>
          </a:prstGeom>
          <a:solidFill>
            <a:srgbClr val="0E3B24">
              <a:alpha val="78000"/>
            </a:srgbClr>
          </a:solidFill>
          <a:ln w="4445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" y="4526280"/>
            <a:ext cx="5303520" cy="5212080"/>
          </a:xfrm>
          <a:prstGeom prst="rect">
            <a:avLst/>
          </a:prstGeom>
          <a:noFill/>
        </p:spPr>
        <p:txBody>
          <a:bodyPr wrap="square" lIns="90000" rIns="90000" anchor="ctr">
            <a:spAutoFit/>
          </a:bodyPr>
          <a:lstStyle/>
          <a:p>
            <a:pPr algn="ctr" rtl="1">
              <a:lnSpc>
                <a:spcPct val="118000"/>
              </a:lnSpc>
              <a:spcAft>
                <a:spcPts val="2000"/>
              </a:spcAft>
            </a:pPr>
            <a:r>
              <a:rPr lang="fa-IR" altLang="ar-SA" sz="3200" b="1" dirty="0">
                <a:solidFill>
                  <a:srgbClr val="2ECC71"/>
                </a:solidFill>
                <a:latin typeface="Tahoma"/>
                <a:ea typeface="Tahoma"/>
                <a:cs typeface="Tahoma"/>
                <a:sym typeface="Tahoma"/>
              </a:rPr>
              <a:t>باکس خروجی سیستم جهان</a:t>
            </a:r>
          </a:p>
          <a:p>
            <a:pPr algn="ctr" rtl="1">
              <a:lnSpc>
                <a:spcPct val="118000"/>
              </a:lnSpc>
              <a:spcAft>
                <a:spcPts val="2000"/>
              </a:spcAft>
            </a:pPr>
            <a:r>
              <a:rPr lang="fa-IR" altLang="ar-SA" sz="5000" b="1" dirty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لِلْيُسْرَىٰ</a:t>
            </a:r>
          </a:p>
          <a:p>
            <a:pPr algn="ctr" rtl="1">
              <a:lnSpc>
                <a:spcPct val="118000"/>
              </a:lnSpc>
              <a:spcAft>
                <a:spcPts val="0"/>
              </a:spcAft>
            </a:pPr>
            <a:r>
              <a:rPr lang="fa-IR" altLang="ar-SA" sz="2800" b="0" dirty="0">
                <a:solidFill>
                  <a:srgbClr val="D6E4F0"/>
                </a:solidFill>
                <a:latin typeface="Tahoma"/>
                <a:ea typeface="Tahoma"/>
                <a:cs typeface="Tahoma"/>
                <a:sym typeface="Tahoma"/>
              </a:rPr>
              <a:t>آسانی و روال‌افتادن زندگی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10561320"/>
            <a:ext cx="19019520" cy="822960"/>
          </a:xfrm>
          <a:prstGeom prst="rect">
            <a:avLst/>
          </a:prstGeom>
          <a:noFill/>
        </p:spPr>
        <p:txBody>
          <a:bodyPr wrap="square" lIns="90000" rIns="90000" anchor="t">
            <a:spAutoFit/>
          </a:bodyPr>
          <a:lstStyle/>
          <a:p>
            <a:pPr algn="ctr" rtl="1">
              <a:lnSpc>
                <a:spcPct val="118000"/>
              </a:lnSpc>
              <a:spcAft>
                <a:spcPts val="0"/>
              </a:spcAft>
            </a:pPr>
            <a:r>
              <a:rPr lang="fa-IR" altLang="ar-SA" sz="2800" b="0" dirty="0">
                <a:solidFill>
                  <a:srgbClr val="D6E4F0"/>
                </a:solidFill>
                <a:latin typeface="Tahoma"/>
                <a:ea typeface="Tahoma"/>
                <a:cs typeface="Tahoma"/>
                <a:sym typeface="Tahoma"/>
              </a:rPr>
              <a:t>ترتیب نمایش راست‌به‌چپ:  ورودی  ⟵  پردازش  ⟵  خروجی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97280" y="502920"/>
            <a:ext cx="19751040" cy="1811393"/>
          </a:xfrm>
          <a:prstGeom prst="rect">
            <a:avLst/>
          </a:prstGeom>
          <a:noFill/>
        </p:spPr>
        <p:txBody>
          <a:bodyPr wrap="square" lIns="90000" rIns="90000" anchor="t">
            <a:spAutoFit/>
          </a:bodyPr>
          <a:lstStyle/>
          <a:p>
            <a:pPr algn="ctr" rtl="1">
              <a:lnSpc>
                <a:spcPct val="118000"/>
              </a:lnSpc>
              <a:spcAft>
                <a:spcPts val="600"/>
              </a:spcAft>
            </a:pPr>
            <a:r>
              <a:rPr lang="fa-IR" altLang="ar-SA" sz="6000" b="1" dirty="0">
                <a:solidFill>
                  <a:srgbClr val="E74C3C"/>
                </a:solidFill>
                <a:latin typeface="Tahoma"/>
                <a:ea typeface="Tahoma"/>
                <a:cs typeface="Tahoma"/>
                <a:sym typeface="Tahoma"/>
              </a:rPr>
              <a:t>مسیر عُسرى — آیات ۸ تا ۱۰</a:t>
            </a:r>
          </a:p>
          <a:p>
            <a:pPr algn="ctr" rtl="1">
              <a:lnSpc>
                <a:spcPct val="118000"/>
              </a:lnSpc>
              <a:spcAft>
                <a:spcPts val="0"/>
              </a:spcAft>
            </a:pPr>
            <a:r>
              <a:rPr lang="fa-IR" altLang="ar-SA" sz="3400" b="0" dirty="0">
                <a:solidFill>
                  <a:srgbClr val="D6E4F0"/>
                </a:solidFill>
                <a:highlight>
                  <a:srgbClr val="000000"/>
                </a:highlight>
                <a:latin typeface="Tahoma"/>
                <a:ea typeface="Tahoma"/>
                <a:cs typeface="Tahoma"/>
                <a:sym typeface="Tahoma"/>
              </a:rPr>
              <a:t>وَأَمَّا مَنْ بَخِلَ وَاسْتَغْنَىٰ • وَكَذَّبَ بِالْحُسْنَىٰ • فَسَنُيَسِّرُهُ لِلْعُسْرَىٰ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2240280"/>
            <a:ext cx="9144000" cy="41148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63040" y="2514600"/>
            <a:ext cx="19019520" cy="1005840"/>
          </a:xfrm>
          <a:prstGeom prst="rect">
            <a:avLst/>
          </a:prstGeom>
          <a:noFill/>
        </p:spPr>
        <p:txBody>
          <a:bodyPr wrap="square" lIns="90000" rIns="90000" anchor="t">
            <a:spAutoFit/>
          </a:bodyPr>
          <a:lstStyle/>
          <a:p>
            <a:pPr algn="ctr" rtl="1">
              <a:lnSpc>
                <a:spcPct val="118000"/>
              </a:lnSpc>
              <a:spcAft>
                <a:spcPts val="0"/>
              </a:spcAft>
            </a:pPr>
            <a:r>
              <a:rPr lang="fa-IR" altLang="ar-SA" sz="3800" b="1" dirty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چطور در زندگی به سختی و مشکلات می‌افتیم؟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276320" y="4114800"/>
            <a:ext cx="5852160" cy="6035040"/>
          </a:xfrm>
          <a:prstGeom prst="roundRect">
            <a:avLst/>
          </a:prstGeom>
          <a:solidFill>
            <a:srgbClr val="45120C">
              <a:alpha val="78000"/>
            </a:srgbClr>
          </a:solidFill>
          <a:ln w="4445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550640" y="4526280"/>
            <a:ext cx="5303520" cy="5212080"/>
          </a:xfrm>
          <a:prstGeom prst="rect">
            <a:avLst/>
          </a:prstGeom>
          <a:noFill/>
        </p:spPr>
        <p:txBody>
          <a:bodyPr wrap="square" lIns="90000" rIns="90000" anchor="ctr">
            <a:spAutoFit/>
          </a:bodyPr>
          <a:lstStyle/>
          <a:p>
            <a:pPr algn="ctr" rtl="1">
              <a:lnSpc>
                <a:spcPct val="118000"/>
              </a:lnSpc>
              <a:spcAft>
                <a:spcPts val="1600"/>
              </a:spcAft>
            </a:pPr>
            <a:r>
              <a:rPr lang="fa-IR" altLang="ar-SA" sz="3200" b="1" dirty="0">
                <a:solidFill>
                  <a:srgbClr val="E74C3C"/>
                </a:solidFill>
                <a:latin typeface="Tahoma"/>
                <a:ea typeface="Tahoma"/>
                <a:cs typeface="Tahoma"/>
                <a:sym typeface="Tahoma"/>
              </a:rPr>
              <a:t>باکس ورودی سیستم جهان</a:t>
            </a:r>
          </a:p>
          <a:p>
            <a:pPr algn="ctr" rtl="1">
              <a:lnSpc>
                <a:spcPct val="118000"/>
              </a:lnSpc>
              <a:spcAft>
                <a:spcPts val="1200"/>
              </a:spcAft>
            </a:pPr>
            <a:r>
              <a:rPr lang="fa-IR" altLang="ar-SA" sz="3600" b="1" dirty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•  بَخِلَ</a:t>
            </a:r>
          </a:p>
          <a:p>
            <a:pPr algn="ctr" rtl="1">
              <a:lnSpc>
                <a:spcPct val="118000"/>
              </a:lnSpc>
              <a:spcAft>
                <a:spcPts val="1200"/>
              </a:spcAft>
            </a:pPr>
            <a:r>
              <a:rPr lang="fa-IR" altLang="ar-SA" sz="3600" b="1" dirty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•  وَاسْتَغْنَىٰ</a:t>
            </a:r>
          </a:p>
          <a:p>
            <a:pPr algn="ctr" rtl="1">
              <a:lnSpc>
                <a:spcPct val="118000"/>
              </a:lnSpc>
              <a:spcAft>
                <a:spcPts val="1200"/>
              </a:spcAft>
            </a:pPr>
            <a:r>
              <a:rPr lang="fa-IR" altLang="ar-SA" sz="3600" b="1" dirty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•  وَكَذَّبَ بِالْحُسْنَىٰ</a:t>
            </a:r>
          </a:p>
          <a:p>
            <a:pPr algn="ctr" rtl="1">
              <a:lnSpc>
                <a:spcPct val="118000"/>
              </a:lnSpc>
              <a:spcAft>
                <a:spcPts val="0"/>
              </a:spcAft>
            </a:pPr>
            <a:r>
              <a:rPr lang="fa-IR" altLang="ar-SA" sz="2400" b="0" dirty="0">
                <a:solidFill>
                  <a:srgbClr val="D6E4F0"/>
                </a:solidFill>
                <a:latin typeface="Tahoma"/>
                <a:ea typeface="Tahoma"/>
                <a:cs typeface="Tahoma"/>
                <a:sym typeface="Tahoma"/>
              </a:rPr>
              <a:t>ورودی‌های انتخابی انسان</a:t>
            </a:r>
          </a:p>
        </p:txBody>
      </p:sp>
      <p:sp>
        <p:nvSpPr>
          <p:cNvPr id="8" name="Left Arrow 7"/>
          <p:cNvSpPr/>
          <p:nvPr/>
        </p:nvSpPr>
        <p:spPr>
          <a:xfrm>
            <a:off x="14401800" y="6629400"/>
            <a:ext cx="1371600" cy="1005840"/>
          </a:xfrm>
          <a:prstGeom prst="leftArrow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046720" y="4114800"/>
            <a:ext cx="5852160" cy="6035040"/>
          </a:xfrm>
          <a:prstGeom prst="roundRect">
            <a:avLst/>
          </a:prstGeom>
          <a:solidFill>
            <a:srgbClr val="0C243B">
              <a:alpha val="78000"/>
            </a:srgbClr>
          </a:solidFill>
          <a:ln w="44450">
            <a:solidFill>
              <a:srgbClr val="5DA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40" y="4526280"/>
            <a:ext cx="5303520" cy="5212080"/>
          </a:xfrm>
          <a:prstGeom prst="rect">
            <a:avLst/>
          </a:prstGeom>
          <a:noFill/>
        </p:spPr>
        <p:txBody>
          <a:bodyPr wrap="square" lIns="90000" rIns="90000" anchor="ctr">
            <a:spAutoFit/>
          </a:bodyPr>
          <a:lstStyle/>
          <a:p>
            <a:pPr algn="ctr" rtl="1">
              <a:lnSpc>
                <a:spcPct val="118000"/>
              </a:lnSpc>
              <a:spcAft>
                <a:spcPts val="2000"/>
              </a:spcAft>
            </a:pPr>
            <a:r>
              <a:rPr lang="fa-IR" altLang="ar-SA" sz="3200" b="1" dirty="0">
                <a:solidFill>
                  <a:srgbClr val="5DADE2"/>
                </a:solidFill>
                <a:latin typeface="Tahoma"/>
                <a:ea typeface="Tahoma"/>
                <a:cs typeface="Tahoma"/>
                <a:sym typeface="Tahoma"/>
              </a:rPr>
              <a:t>باکس پردازش سیستم جهان</a:t>
            </a:r>
          </a:p>
          <a:p>
            <a:pPr algn="ctr" rtl="1">
              <a:lnSpc>
                <a:spcPct val="118000"/>
              </a:lnSpc>
              <a:spcAft>
                <a:spcPts val="2000"/>
              </a:spcAft>
            </a:pPr>
            <a:r>
              <a:rPr lang="fa-IR" altLang="ar-SA" sz="4600" b="1" dirty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فَسَنُيَسِّرُهُ</a:t>
            </a:r>
          </a:p>
          <a:p>
            <a:pPr algn="ctr" rtl="1">
              <a:lnSpc>
                <a:spcPct val="118000"/>
              </a:lnSpc>
              <a:spcAft>
                <a:spcPts val="0"/>
              </a:spcAft>
            </a:pPr>
            <a:r>
              <a:rPr lang="fa-IR" altLang="ar-SA" sz="2800" b="0" dirty="0">
                <a:solidFill>
                  <a:srgbClr val="D6E4F0"/>
                </a:solidFill>
                <a:latin typeface="Tahoma"/>
                <a:ea typeface="Tahoma"/>
                <a:cs typeface="Tahoma"/>
                <a:sym typeface="Tahoma"/>
              </a:rPr>
              <a:t>تسهیل در همان مسیری که با ورودی‌ها انتخاب شده است</a:t>
            </a:r>
          </a:p>
        </p:txBody>
      </p:sp>
      <p:sp>
        <p:nvSpPr>
          <p:cNvPr id="11" name="Left Arrow 10"/>
          <p:cNvSpPr/>
          <p:nvPr/>
        </p:nvSpPr>
        <p:spPr>
          <a:xfrm>
            <a:off x="6172200" y="6629400"/>
            <a:ext cx="1371600" cy="1005840"/>
          </a:xfrm>
          <a:prstGeom prst="leftArrow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-182880" y="4114800"/>
            <a:ext cx="5852160" cy="6035040"/>
          </a:xfrm>
          <a:prstGeom prst="roundRect">
            <a:avLst/>
          </a:prstGeom>
          <a:solidFill>
            <a:srgbClr val="45120C">
              <a:alpha val="78000"/>
            </a:srgbClr>
          </a:solidFill>
          <a:ln w="4445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" y="4526280"/>
            <a:ext cx="5303520" cy="5212080"/>
          </a:xfrm>
          <a:prstGeom prst="rect">
            <a:avLst/>
          </a:prstGeom>
          <a:noFill/>
        </p:spPr>
        <p:txBody>
          <a:bodyPr wrap="square" lIns="90000" rIns="90000" anchor="ctr">
            <a:spAutoFit/>
          </a:bodyPr>
          <a:lstStyle/>
          <a:p>
            <a:pPr algn="ctr" rtl="1">
              <a:lnSpc>
                <a:spcPct val="118000"/>
              </a:lnSpc>
              <a:spcAft>
                <a:spcPts val="2000"/>
              </a:spcAft>
            </a:pPr>
            <a:r>
              <a:rPr lang="fa-IR" altLang="ar-SA" sz="3200" b="1" dirty="0">
                <a:solidFill>
                  <a:srgbClr val="E74C3C"/>
                </a:solidFill>
                <a:latin typeface="Tahoma"/>
                <a:ea typeface="Tahoma"/>
                <a:cs typeface="Tahoma"/>
                <a:sym typeface="Tahoma"/>
              </a:rPr>
              <a:t>باکس خروجی سیستم جهان</a:t>
            </a:r>
          </a:p>
          <a:p>
            <a:pPr algn="ctr" rtl="1">
              <a:lnSpc>
                <a:spcPct val="118000"/>
              </a:lnSpc>
              <a:spcAft>
                <a:spcPts val="2000"/>
              </a:spcAft>
            </a:pPr>
            <a:r>
              <a:rPr lang="fa-IR" altLang="ar-SA" sz="5000" b="1" dirty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لِلْعُسْرَىٰ</a:t>
            </a:r>
          </a:p>
          <a:p>
            <a:pPr algn="ctr" rtl="1">
              <a:lnSpc>
                <a:spcPct val="118000"/>
              </a:lnSpc>
              <a:spcAft>
                <a:spcPts val="0"/>
              </a:spcAft>
            </a:pPr>
            <a:r>
              <a:rPr lang="fa-IR" altLang="ar-SA" sz="2800" b="0" dirty="0">
                <a:solidFill>
                  <a:srgbClr val="D6E4F0"/>
                </a:solidFill>
                <a:latin typeface="Tahoma"/>
                <a:ea typeface="Tahoma"/>
                <a:cs typeface="Tahoma"/>
                <a:sym typeface="Tahoma"/>
              </a:rPr>
              <a:t>سختی و مشکلات زندگی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10561320"/>
            <a:ext cx="19019520" cy="822960"/>
          </a:xfrm>
          <a:prstGeom prst="rect">
            <a:avLst/>
          </a:prstGeom>
          <a:noFill/>
        </p:spPr>
        <p:txBody>
          <a:bodyPr wrap="square" lIns="90000" rIns="90000" anchor="t">
            <a:spAutoFit/>
          </a:bodyPr>
          <a:lstStyle/>
          <a:p>
            <a:pPr algn="ctr" rtl="1">
              <a:lnSpc>
                <a:spcPct val="118000"/>
              </a:lnSpc>
              <a:spcAft>
                <a:spcPts val="0"/>
              </a:spcAft>
            </a:pPr>
            <a:r>
              <a:rPr lang="fa-IR" altLang="ar-SA" sz="2800" b="0" dirty="0">
                <a:solidFill>
                  <a:srgbClr val="D6E4F0"/>
                </a:solidFill>
                <a:latin typeface="Tahoma"/>
                <a:ea typeface="Tahoma"/>
                <a:cs typeface="Tahoma"/>
                <a:sym typeface="Tahoma"/>
              </a:rPr>
              <a:t>ترتیب نمایش راست‌به‌چپ:  ورودی  ⟵  پردازش  ⟵  خروجی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97280" y="502920"/>
            <a:ext cx="19751040" cy="1811393"/>
          </a:xfrm>
          <a:prstGeom prst="rect">
            <a:avLst/>
          </a:prstGeom>
          <a:noFill/>
        </p:spPr>
        <p:txBody>
          <a:bodyPr wrap="square" lIns="90000" rIns="90000" anchor="t">
            <a:spAutoFit/>
          </a:bodyPr>
          <a:lstStyle/>
          <a:p>
            <a:pPr algn="ctr" rtl="1">
              <a:lnSpc>
                <a:spcPct val="118000"/>
              </a:lnSpc>
              <a:spcAft>
                <a:spcPts val="600"/>
              </a:spcAft>
            </a:pPr>
            <a:r>
              <a:rPr lang="fa-IR" altLang="ar-SA" sz="6000" b="1" dirty="0">
                <a:solidFill>
                  <a:srgbClr val="F1C40F"/>
                </a:solidFill>
                <a:latin typeface="Tahoma"/>
                <a:ea typeface="Tahoma"/>
                <a:cs typeface="Tahoma"/>
                <a:sym typeface="Tahoma"/>
              </a:rPr>
              <a:t>جمع‌بندی دو مسیر سوره لیل</a:t>
            </a:r>
          </a:p>
          <a:p>
            <a:pPr algn="ctr" rtl="1">
              <a:lnSpc>
                <a:spcPct val="118000"/>
              </a:lnSpc>
              <a:spcAft>
                <a:spcPts val="0"/>
              </a:spcAft>
            </a:pPr>
            <a:r>
              <a:rPr lang="fa-IR" altLang="ar-SA" sz="3400" b="0" dirty="0">
                <a:solidFill>
                  <a:srgbClr val="D6E4F0"/>
                </a:solidFill>
                <a:highlight>
                  <a:srgbClr val="000000"/>
                </a:highlight>
                <a:latin typeface="Tahoma"/>
                <a:ea typeface="Tahoma"/>
                <a:cs typeface="Tahoma"/>
                <a:sym typeface="Tahoma"/>
              </a:rPr>
              <a:t>یک سیستم، دو ورودی متفاوت، دو خروجی متفاوت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2240280"/>
            <a:ext cx="9144000" cy="41148"/>
          </a:xfrm>
          <a:prstGeom prst="rect">
            <a:avLst/>
          </a:prstGeom>
          <a:solidFill>
            <a:srgbClr val="F1C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371600" y="2926080"/>
            <a:ext cx="19202400" cy="3840480"/>
          </a:xfrm>
          <a:prstGeom prst="roundRect">
            <a:avLst/>
          </a:prstGeom>
          <a:solidFill>
            <a:srgbClr val="0E3B24">
              <a:alpha val="78000"/>
            </a:srgbClr>
          </a:solidFill>
          <a:ln w="4445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733520" y="3291840"/>
            <a:ext cx="3657600" cy="3108960"/>
          </a:xfrm>
          <a:prstGeom prst="rect">
            <a:avLst/>
          </a:prstGeom>
          <a:noFill/>
        </p:spPr>
        <p:txBody>
          <a:bodyPr wrap="square" lIns="90000" rIns="90000" anchor="ctr">
            <a:spAutoFit/>
          </a:bodyPr>
          <a:lstStyle/>
          <a:p>
            <a:pPr algn="ctr" rtl="1">
              <a:lnSpc>
                <a:spcPct val="118000"/>
              </a:lnSpc>
              <a:spcAft>
                <a:spcPts val="1000"/>
              </a:spcAft>
            </a:pPr>
            <a:r>
              <a:rPr lang="fa-IR" altLang="ar-SA" sz="4000" b="1" dirty="0">
                <a:solidFill>
                  <a:srgbClr val="2ECC71"/>
                </a:solidFill>
                <a:latin typeface="Tahoma"/>
                <a:ea typeface="Tahoma"/>
                <a:cs typeface="Tahoma"/>
                <a:sym typeface="Tahoma"/>
              </a:rPr>
              <a:t>مسیر یُسرى</a:t>
            </a:r>
          </a:p>
          <a:p>
            <a:pPr algn="ctr" rtl="1">
              <a:lnSpc>
                <a:spcPct val="118000"/>
              </a:lnSpc>
              <a:spcAft>
                <a:spcPts val="0"/>
              </a:spcAft>
            </a:pPr>
            <a:r>
              <a:rPr lang="fa-IR" altLang="ar-SA" sz="2400" b="0" dirty="0">
                <a:solidFill>
                  <a:srgbClr val="D6E4F0"/>
                </a:solidFill>
                <a:latin typeface="Tahoma"/>
                <a:ea typeface="Tahoma"/>
                <a:cs typeface="Tahoma"/>
                <a:sym typeface="Tahoma"/>
              </a:rPr>
              <a:t>آسانی و روال‌افتادن زندگی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3291840"/>
            <a:ext cx="14996160" cy="3108960"/>
          </a:xfrm>
          <a:prstGeom prst="rect">
            <a:avLst/>
          </a:prstGeom>
          <a:noFill/>
        </p:spPr>
        <p:txBody>
          <a:bodyPr wrap="square" lIns="90000" rIns="90000" anchor="ctr">
            <a:spAutoFit/>
          </a:bodyPr>
          <a:lstStyle/>
          <a:p>
            <a:pPr algn="ctr" rtl="1">
              <a:lnSpc>
                <a:spcPct val="118000"/>
              </a:lnSpc>
              <a:spcAft>
                <a:spcPts val="1400"/>
              </a:spcAft>
            </a:pPr>
            <a:r>
              <a:rPr lang="fa-IR" altLang="ar-SA" sz="3200" b="1" dirty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ورودی:  أَعْطَىٰ  |  وَاتَّقَىٰ  |  وَصَدَّقَ بِالْحُسْنَىٰ</a:t>
            </a:r>
          </a:p>
          <a:p>
            <a:pPr algn="ctr" rtl="1">
              <a:lnSpc>
                <a:spcPct val="118000"/>
              </a:lnSpc>
              <a:spcAft>
                <a:spcPts val="0"/>
              </a:spcAft>
            </a:pPr>
            <a:r>
              <a:rPr lang="fa-IR" altLang="ar-SA" sz="3200" b="1" dirty="0">
                <a:solidFill>
                  <a:srgbClr val="2ECC71"/>
                </a:solidFill>
                <a:latin typeface="Tahoma"/>
                <a:ea typeface="Tahoma"/>
                <a:cs typeface="Tahoma"/>
                <a:sym typeface="Tahoma"/>
              </a:rPr>
              <a:t>پردازش:  فَسَنُيَسِّرُهُ   ⟵   خروجی:  لِلْيُسْرَىٰ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7269480"/>
            <a:ext cx="19202400" cy="3840480"/>
          </a:xfrm>
          <a:prstGeom prst="roundRect">
            <a:avLst/>
          </a:prstGeom>
          <a:solidFill>
            <a:srgbClr val="45120C">
              <a:alpha val="78000"/>
            </a:srgbClr>
          </a:solidFill>
          <a:ln w="4445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733520" y="7635240"/>
            <a:ext cx="3657600" cy="3108960"/>
          </a:xfrm>
          <a:prstGeom prst="rect">
            <a:avLst/>
          </a:prstGeom>
          <a:noFill/>
        </p:spPr>
        <p:txBody>
          <a:bodyPr wrap="square" lIns="90000" rIns="90000" anchor="ctr">
            <a:spAutoFit/>
          </a:bodyPr>
          <a:lstStyle/>
          <a:p>
            <a:pPr algn="ctr" rtl="1">
              <a:lnSpc>
                <a:spcPct val="118000"/>
              </a:lnSpc>
              <a:spcAft>
                <a:spcPts val="1000"/>
              </a:spcAft>
            </a:pPr>
            <a:r>
              <a:rPr lang="fa-IR" altLang="ar-SA" sz="4000" b="1" dirty="0">
                <a:solidFill>
                  <a:srgbClr val="E74C3C"/>
                </a:solidFill>
                <a:latin typeface="Tahoma"/>
                <a:ea typeface="Tahoma"/>
                <a:cs typeface="Tahoma"/>
                <a:sym typeface="Tahoma"/>
              </a:rPr>
              <a:t>مسیر عُسرى</a:t>
            </a:r>
          </a:p>
          <a:p>
            <a:pPr algn="ctr" rtl="1">
              <a:lnSpc>
                <a:spcPct val="118000"/>
              </a:lnSpc>
              <a:spcAft>
                <a:spcPts val="0"/>
              </a:spcAft>
            </a:pPr>
            <a:r>
              <a:rPr lang="fa-IR" altLang="ar-SA" sz="2400" b="0" dirty="0">
                <a:solidFill>
                  <a:srgbClr val="D6E4F0"/>
                </a:solidFill>
                <a:latin typeface="Tahoma"/>
                <a:ea typeface="Tahoma"/>
                <a:cs typeface="Tahoma"/>
                <a:sym typeface="Tahoma"/>
              </a:rPr>
              <a:t>سختی و مشکلات زندگی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7635240"/>
            <a:ext cx="14996160" cy="3108960"/>
          </a:xfrm>
          <a:prstGeom prst="rect">
            <a:avLst/>
          </a:prstGeom>
          <a:noFill/>
        </p:spPr>
        <p:txBody>
          <a:bodyPr wrap="square" lIns="90000" rIns="90000" anchor="ctr">
            <a:spAutoFit/>
          </a:bodyPr>
          <a:lstStyle/>
          <a:p>
            <a:pPr algn="ctr" rtl="1">
              <a:lnSpc>
                <a:spcPct val="118000"/>
              </a:lnSpc>
              <a:spcAft>
                <a:spcPts val="1400"/>
              </a:spcAft>
            </a:pPr>
            <a:r>
              <a:rPr lang="fa-IR" altLang="ar-SA" sz="3200" b="1" dirty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ورودی:  بَخِلَ  |  وَاسْتَغْنَىٰ  |  وَكَذَّبَ بِالْحُسْنَىٰ</a:t>
            </a:r>
          </a:p>
          <a:p>
            <a:pPr algn="ctr" rtl="1">
              <a:lnSpc>
                <a:spcPct val="118000"/>
              </a:lnSpc>
              <a:spcAft>
                <a:spcPts val="0"/>
              </a:spcAft>
            </a:pPr>
            <a:r>
              <a:rPr lang="fa-IR" altLang="ar-SA" sz="3200" b="1" dirty="0">
                <a:solidFill>
                  <a:srgbClr val="E74C3C"/>
                </a:solidFill>
                <a:latin typeface="Tahoma"/>
                <a:ea typeface="Tahoma"/>
                <a:cs typeface="Tahoma"/>
                <a:sym typeface="Tahoma"/>
              </a:rPr>
              <a:t>پردازش:  فَسَنُيَسِّرُهُ   ⟵   خروجی:  لِلْعُسْرَىٰ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1064240"/>
            <a:ext cx="19202400" cy="822960"/>
          </a:xfrm>
          <a:prstGeom prst="rect">
            <a:avLst/>
          </a:prstGeom>
          <a:noFill/>
        </p:spPr>
        <p:txBody>
          <a:bodyPr wrap="square" lIns="90000" rIns="90000" anchor="t">
            <a:spAutoFit/>
          </a:bodyPr>
          <a:lstStyle/>
          <a:p>
            <a:pPr algn="ctr" rtl="1">
              <a:lnSpc>
                <a:spcPct val="118000"/>
              </a:lnSpc>
              <a:spcAft>
                <a:spcPts val="0"/>
              </a:spcAft>
            </a:pPr>
            <a:r>
              <a:rPr lang="fa-IR" altLang="ar-SA" sz="2800" b="0" dirty="0">
                <a:solidFill>
                  <a:srgbClr val="F1C40F"/>
                </a:solidFill>
                <a:latin typeface="Tahoma"/>
                <a:ea typeface="Tahoma"/>
                <a:cs typeface="Tahoma"/>
                <a:sym typeface="Tahoma"/>
              </a:rPr>
              <a:t>ورودی‌های ما، خروجی زندگی ما را می‌سازد؛ پردازش سیستم جهان در هر دو مسیر یکی است: فَسَنُيَسِّرُهُ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ide_cinematic_clean_infographic_infographic_ba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1945600" cy="1234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32120" y="320040"/>
            <a:ext cx="6858000" cy="572464"/>
          </a:xfrm>
          <a:prstGeom prst="rect">
            <a:avLst/>
          </a:prstGeom>
          <a:noFill/>
        </p:spPr>
        <p:txBody>
          <a:bodyPr wrap="square" lIns="109728" tIns="9144" rIns="109728" bIns="9144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2500" b="1">
                <a:solidFill>
                  <a:srgbClr val="FFFFFF"/>
                </a:solidFill>
                <a:latin typeface="Noto Naskh Arabic"/>
              </a:defRPr>
            </a:pPr>
            <a:r>
              <a:rPr lang="fa-IR" altLang="ar-SA" sz="3100" b="1" dirty="0">
                <a:solidFill>
                  <a:srgbClr val="10463A"/>
                </a:solidFill>
                <a:latin typeface="Tahoma"/>
                <a:ea typeface="Tahoma"/>
                <a:cs typeface="Tahoma"/>
                <a:sym typeface="Tahoma"/>
              </a:rPr>
              <a:t>به سمت خدا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11475720"/>
            <a:ext cx="6858000" cy="510909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FFEBEB"/>
                </a:solidFill>
                <a:latin typeface="Noto Naskh Arabic"/>
              </a:defRPr>
            </a:pPr>
            <a:r>
              <a:rPr lang="fa-IR" altLang="ar-SA" sz="2700" b="1" dirty="0">
                <a:solidFill>
                  <a:srgbClr val="FFE1E1"/>
                </a:solidFill>
                <a:latin typeface="Tahoma"/>
                <a:ea typeface="Tahoma"/>
                <a:cs typeface="Tahoma"/>
                <a:sym typeface="Tahoma"/>
              </a:rPr>
              <a:t>به سمت شیطان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8308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FFFFFF"/>
                </a:solidFill>
                <a:latin typeface="Noto Naskh Arabic"/>
              </a:defRPr>
            </a:pPr>
            <a:r>
              <a:rPr lang="fa-IR" sz="1900" b="1">
                <a:solidFill>
                  <a:srgbClr val="146442"/>
                </a:solidFill>
                <a:latin typeface="Tahoma"/>
                <a:ea typeface="Tahoma"/>
                <a:cs typeface="Tahoma"/>
                <a:sym typeface="Tahoma"/>
              </a:rPr>
              <a:t>+10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60604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FFFFFF"/>
                </a:solidFill>
                <a:latin typeface="Noto Naskh Arabic"/>
              </a:defRPr>
            </a:pPr>
            <a:r>
              <a:rPr lang="fa-IR" sz="1900" b="1">
                <a:solidFill>
                  <a:srgbClr val="146442"/>
                </a:solidFill>
                <a:latin typeface="Tahoma"/>
                <a:ea typeface="Tahoma"/>
                <a:cs typeface="Tahoma"/>
                <a:sym typeface="Tahoma"/>
              </a:rPr>
              <a:t>+8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42900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FFFFFF"/>
                </a:solidFill>
                <a:latin typeface="Noto Naskh Arabic"/>
              </a:defRPr>
            </a:pPr>
            <a:r>
              <a:rPr lang="fa-IR" sz="1900" b="1">
                <a:solidFill>
                  <a:srgbClr val="146442"/>
                </a:solidFill>
                <a:latin typeface="Tahoma"/>
                <a:ea typeface="Tahoma"/>
                <a:cs typeface="Tahoma"/>
                <a:sym typeface="Tahoma"/>
              </a:rPr>
              <a:t>+6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25196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FFFFFF"/>
                </a:solidFill>
                <a:latin typeface="Noto Naskh Arabic"/>
              </a:defRPr>
            </a:pPr>
            <a:r>
              <a:rPr lang="fa-IR" sz="1900" b="1">
                <a:solidFill>
                  <a:srgbClr val="146442"/>
                </a:solidFill>
                <a:latin typeface="Tahoma"/>
                <a:ea typeface="Tahoma"/>
                <a:cs typeface="Tahoma"/>
                <a:sym typeface="Tahoma"/>
              </a:rPr>
              <a:t>+4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07492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FFFFFF"/>
                </a:solidFill>
                <a:latin typeface="Noto Naskh Arabic"/>
              </a:defRPr>
            </a:pPr>
            <a:r>
              <a:rPr lang="fa-IR" sz="1900" b="1">
                <a:solidFill>
                  <a:srgbClr val="146442"/>
                </a:solidFill>
                <a:latin typeface="Tahoma"/>
                <a:ea typeface="Tahoma"/>
                <a:cs typeface="Tahoma"/>
                <a:sym typeface="Tahoma"/>
              </a:rPr>
              <a:t>+2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89788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FFFFFF"/>
                </a:solidFill>
                <a:latin typeface="Noto Naskh Arabic"/>
              </a:defRPr>
            </a:pPr>
            <a:r>
              <a:rPr lang="fa-IR" sz="1900" b="1">
                <a:solidFill>
                  <a:srgbClr val="102D45"/>
                </a:solidFill>
                <a:latin typeface="Tahoma"/>
                <a:ea typeface="Tahoma"/>
                <a:cs typeface="Tahoma"/>
                <a:sym typeface="Tahoma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72084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FFFFFF"/>
                </a:solidFill>
                <a:latin typeface="Noto Naskh Arabic"/>
              </a:defRPr>
            </a:pPr>
            <a:r>
              <a:rPr lang="fa-IR" sz="1900" b="1">
                <a:solidFill>
                  <a:srgbClr val="96231E"/>
                </a:solidFill>
                <a:latin typeface="Tahoma"/>
                <a:ea typeface="Tahoma"/>
                <a:cs typeface="Tahoma"/>
                <a:sym typeface="Tahoma"/>
              </a:rPr>
              <a:t>−2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754380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FFFFFF"/>
                </a:solidFill>
                <a:latin typeface="Noto Naskh Arabic"/>
              </a:defRPr>
            </a:pPr>
            <a:r>
              <a:rPr lang="fa-IR" sz="1900" b="1">
                <a:solidFill>
                  <a:srgbClr val="96231E"/>
                </a:solidFill>
                <a:latin typeface="Tahoma"/>
                <a:ea typeface="Tahoma"/>
                <a:cs typeface="Tahoma"/>
                <a:sym typeface="Tahoma"/>
              </a:rPr>
              <a:t>−4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836676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FFFFFF"/>
                </a:solidFill>
                <a:latin typeface="Noto Naskh Arabic"/>
              </a:defRPr>
            </a:pPr>
            <a:r>
              <a:rPr lang="fa-IR" sz="1900" b="1">
                <a:solidFill>
                  <a:srgbClr val="96231E"/>
                </a:solidFill>
                <a:latin typeface="Tahoma"/>
                <a:ea typeface="Tahoma"/>
                <a:cs typeface="Tahoma"/>
                <a:sym typeface="Tahoma"/>
              </a:rPr>
              <a:t>−6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918972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FFFFFF"/>
                </a:solidFill>
                <a:latin typeface="Noto Naskh Arabic"/>
              </a:defRPr>
            </a:pPr>
            <a:r>
              <a:rPr lang="fa-IR" sz="1900" b="1">
                <a:solidFill>
                  <a:srgbClr val="96231E"/>
                </a:solidFill>
                <a:latin typeface="Tahoma"/>
                <a:ea typeface="Tahoma"/>
                <a:cs typeface="Tahoma"/>
                <a:sym typeface="Tahoma"/>
              </a:rPr>
              <a:t>−10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538960" y="594360"/>
            <a:ext cx="5943600" cy="449354"/>
          </a:xfrm>
          <a:prstGeom prst="rect">
            <a:avLst/>
          </a:prstGeom>
          <a:noFill/>
        </p:spPr>
        <p:txBody>
          <a:bodyPr wrap="square" lIns="109728" tIns="9144" rIns="109728" bIns="9144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46442"/>
                </a:solidFill>
                <a:latin typeface="Noto Naskh Arabic"/>
              </a:defRPr>
            </a:pPr>
            <a:r>
              <a:rPr lang="fa-IR" altLang="ar-SA" sz="2200" b="1" dirty="0">
                <a:solidFill>
                  <a:srgbClr val="146442"/>
                </a:solidFill>
                <a:latin typeface="Tahoma"/>
                <a:ea typeface="Tahoma"/>
                <a:cs typeface="Tahoma"/>
                <a:sym typeface="Tahoma"/>
              </a:rPr>
              <a:t>بیشتر | وعده‌های خداوند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417800" y="1042508"/>
            <a:ext cx="5684520" cy="3621056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spAutoFit/>
          </a:bodyPr>
          <a:lstStyle/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60" b="0">
                <a:solidFill>
                  <a:srgbClr val="1E262C"/>
                </a:solidFill>
                <a:latin typeface="Noto Naskh Arabic"/>
              </a:defRPr>
            </a:pPr>
            <a:r>
              <a:rPr lang="fa-IR" altLang="ar-SA" sz="2500" b="0" dirty="0">
                <a:solidFill>
                  <a:srgbClr val="1E262C"/>
                </a:solidFill>
                <a:latin typeface="Tahoma"/>
                <a:ea typeface="Tahoma"/>
                <a:cs typeface="Tahoma"/>
                <a:sym typeface="Tahoma"/>
              </a:rPr>
              <a:t>۱. وعده یاری و نصرت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60" b="0">
                <a:solidFill>
                  <a:srgbClr val="1E262C"/>
                </a:solidFill>
                <a:latin typeface="Noto Naskh Arabic"/>
              </a:defRPr>
            </a:pPr>
            <a:r>
              <a:rPr lang="fa-IR" altLang="ar-SA" sz="2500" b="0" dirty="0">
                <a:solidFill>
                  <a:srgbClr val="1E262C"/>
                </a:solidFill>
                <a:latin typeface="Tahoma"/>
                <a:ea typeface="Tahoma"/>
                <a:cs typeface="Tahoma"/>
                <a:sym typeface="Tahoma"/>
              </a:rPr>
              <a:t>۲. وعده قبولی توبه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60" b="0">
                <a:solidFill>
                  <a:srgbClr val="1E262C"/>
                </a:solidFill>
                <a:latin typeface="Noto Naskh Arabic"/>
              </a:defRPr>
            </a:pPr>
            <a:r>
              <a:rPr lang="fa-IR" altLang="ar-SA" sz="2500" b="0" dirty="0">
                <a:solidFill>
                  <a:srgbClr val="1E262C"/>
                </a:solidFill>
                <a:latin typeface="Tahoma"/>
                <a:ea typeface="Tahoma"/>
                <a:cs typeface="Tahoma"/>
                <a:sym typeface="Tahoma"/>
              </a:rPr>
              <a:t>۳. وعده مغفرت و آمرزش و رحمت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60" b="0">
                <a:solidFill>
                  <a:srgbClr val="1E262C"/>
                </a:solidFill>
                <a:latin typeface="Noto Naskh Arabic"/>
              </a:defRPr>
            </a:pPr>
            <a:r>
              <a:rPr lang="fa-IR" altLang="ar-SA" sz="2500" b="0" dirty="0">
                <a:solidFill>
                  <a:srgbClr val="1E262C"/>
                </a:solidFill>
                <a:latin typeface="Tahoma"/>
                <a:ea typeface="Tahoma"/>
                <a:cs typeface="Tahoma"/>
                <a:sym typeface="Tahoma"/>
              </a:rPr>
              <a:t>۴. وعده بهشت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60" b="0">
                <a:solidFill>
                  <a:srgbClr val="1E262C"/>
                </a:solidFill>
                <a:latin typeface="Noto Naskh Arabic"/>
              </a:defRPr>
            </a:pPr>
            <a:r>
              <a:rPr lang="fa-IR" altLang="ar-SA" sz="2500" b="0" dirty="0">
                <a:solidFill>
                  <a:srgbClr val="1E262C"/>
                </a:solidFill>
                <a:latin typeface="Tahoma"/>
                <a:ea typeface="Tahoma"/>
                <a:cs typeface="Tahoma"/>
                <a:sym typeface="Tahoma"/>
              </a:rPr>
              <a:t>۵. وعده حتمی بودن قیامت و روز حسابرسی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60" b="0">
                <a:solidFill>
                  <a:srgbClr val="1E262C"/>
                </a:solidFill>
                <a:latin typeface="Noto Naskh Arabic"/>
              </a:defRPr>
            </a:pPr>
            <a:r>
              <a:rPr lang="fa-IR" altLang="ar-SA" sz="2500" b="0" dirty="0">
                <a:solidFill>
                  <a:srgbClr val="1E262C"/>
                </a:solidFill>
                <a:latin typeface="Tahoma"/>
                <a:ea typeface="Tahoma"/>
                <a:cs typeface="Tahoma"/>
                <a:sym typeface="Tahoma"/>
              </a:rPr>
              <a:t>۶. وعده نزول سکینه و آرامش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60" b="0">
                <a:solidFill>
                  <a:srgbClr val="1E262C"/>
                </a:solidFill>
                <a:latin typeface="Noto Naskh Arabic"/>
              </a:defRPr>
            </a:pPr>
            <a:r>
              <a:rPr lang="fa-IR" altLang="ar-SA" sz="2500" b="0" dirty="0">
                <a:solidFill>
                  <a:srgbClr val="1E262C"/>
                </a:solidFill>
                <a:latin typeface="Tahoma"/>
                <a:ea typeface="Tahoma"/>
                <a:cs typeface="Tahoma"/>
                <a:sym typeface="Tahoma"/>
              </a:rPr>
              <a:t>۷. وعده فراوانی روزی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60" b="0">
                <a:solidFill>
                  <a:srgbClr val="1E262C"/>
                </a:solidFill>
                <a:latin typeface="Noto Naskh Arabic"/>
              </a:defRPr>
            </a:pPr>
            <a:r>
              <a:rPr lang="fa-IR" altLang="ar-SA" sz="2500" b="0" dirty="0">
                <a:solidFill>
                  <a:srgbClr val="1E262C"/>
                </a:solidFill>
                <a:latin typeface="Tahoma"/>
                <a:ea typeface="Tahoma"/>
                <a:cs typeface="Tahoma"/>
                <a:sym typeface="Tahoma"/>
              </a:rPr>
              <a:t>۸. وعده بالا بردن درجات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56080" y="5448526"/>
            <a:ext cx="5943600" cy="449354"/>
          </a:xfrm>
          <a:prstGeom prst="rect">
            <a:avLst/>
          </a:prstGeom>
          <a:noFill/>
        </p:spPr>
        <p:txBody>
          <a:bodyPr wrap="square" lIns="109728" tIns="9144" rIns="109728" bIns="9144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96231E"/>
                </a:solidFill>
                <a:latin typeface="Noto Naskh Arabic"/>
              </a:defRPr>
            </a:pPr>
            <a:r>
              <a:rPr lang="fa-IR" altLang="ar-SA" sz="2200" b="1" dirty="0">
                <a:solidFill>
                  <a:srgbClr val="96231E"/>
                </a:solidFill>
                <a:latin typeface="Tahoma"/>
                <a:ea typeface="Tahoma"/>
                <a:cs typeface="Tahoma"/>
                <a:sym typeface="Tahoma"/>
              </a:rPr>
              <a:t>کمتر | وعده‌های شیطان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0" y="5953719"/>
            <a:ext cx="6126480" cy="3177345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spAutoFit/>
          </a:bodyPr>
          <a:lstStyle/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80" b="0">
                <a:solidFill>
                  <a:srgbClr val="1E262C"/>
                </a:solidFill>
                <a:latin typeface="Noto Naskh Arabic"/>
              </a:defRPr>
            </a:pPr>
            <a:r>
              <a:rPr lang="fa-IR" altLang="ar-SA" sz="2500" b="0" dirty="0">
                <a:solidFill>
                  <a:srgbClr val="1E262C"/>
                </a:solidFill>
                <a:latin typeface="Tahoma"/>
                <a:ea typeface="Tahoma"/>
                <a:cs typeface="Tahoma"/>
                <a:sym typeface="Tahoma"/>
              </a:rPr>
              <a:t>۱. وعده فقر و امر به فحشا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80" b="0">
                <a:solidFill>
                  <a:srgbClr val="1E262C"/>
                </a:solidFill>
                <a:latin typeface="Noto Naskh Arabic"/>
              </a:defRPr>
            </a:pPr>
            <a:r>
              <a:rPr lang="fa-IR" altLang="ar-SA" sz="2500" b="0" dirty="0">
                <a:solidFill>
                  <a:srgbClr val="1E262C"/>
                </a:solidFill>
                <a:latin typeface="Tahoma"/>
                <a:ea typeface="Tahoma"/>
                <a:cs typeface="Tahoma"/>
                <a:sym typeface="Tahoma"/>
              </a:rPr>
              <a:t>۲. وعده آرزوهای طولانی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80" b="0">
                <a:solidFill>
                  <a:srgbClr val="1E262C"/>
                </a:solidFill>
                <a:latin typeface="Noto Naskh Arabic"/>
              </a:defRPr>
            </a:pPr>
            <a:r>
              <a:rPr lang="fa-IR" altLang="ar-SA" sz="2500" b="0" dirty="0">
                <a:solidFill>
                  <a:srgbClr val="1E262C"/>
                </a:solidFill>
                <a:latin typeface="Tahoma"/>
                <a:ea typeface="Tahoma"/>
                <a:cs typeface="Tahoma"/>
                <a:sym typeface="Tahoma"/>
              </a:rPr>
              <a:t>۳. وعده گمراه کردن فرزندان آدم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80" b="0">
                <a:solidFill>
                  <a:srgbClr val="1E262C"/>
                </a:solidFill>
                <a:latin typeface="Noto Naskh Arabic"/>
              </a:defRPr>
            </a:pPr>
            <a:r>
              <a:rPr lang="fa-IR" altLang="ar-SA" sz="2500" b="0" dirty="0">
                <a:solidFill>
                  <a:srgbClr val="1E262C"/>
                </a:solidFill>
                <a:latin typeface="Tahoma"/>
                <a:ea typeface="Tahoma"/>
                <a:cs typeface="Tahoma"/>
                <a:sym typeface="Tahoma"/>
              </a:rPr>
              <a:t>۴. وعده شرک و کفر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80" b="0">
                <a:solidFill>
                  <a:srgbClr val="1E262C"/>
                </a:solidFill>
                <a:latin typeface="Noto Naskh Arabic"/>
              </a:defRPr>
            </a:pPr>
            <a:r>
              <a:rPr lang="fa-IR" altLang="ar-SA" sz="2500" b="0" dirty="0">
                <a:solidFill>
                  <a:srgbClr val="1E262C"/>
                </a:solidFill>
                <a:latin typeface="Tahoma"/>
                <a:ea typeface="Tahoma"/>
                <a:cs typeface="Tahoma"/>
                <a:sym typeface="Tahoma"/>
              </a:rPr>
              <a:t>۵. وعده رسیدن به مقام و قدرت و جاودانگی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80" b="0">
                <a:solidFill>
                  <a:srgbClr val="1E262C"/>
                </a:solidFill>
                <a:latin typeface="Noto Naskh Arabic"/>
              </a:defRPr>
            </a:pPr>
            <a:r>
              <a:rPr lang="fa-IR" altLang="ar-SA" sz="2500" b="0" dirty="0">
                <a:solidFill>
                  <a:srgbClr val="1E262C"/>
                </a:solidFill>
                <a:latin typeface="Tahoma"/>
                <a:ea typeface="Tahoma"/>
                <a:cs typeface="Tahoma"/>
                <a:sym typeface="Tahoma"/>
              </a:rPr>
              <a:t>۶. وعده تقلید از نیاکان و انحراف از دین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80" b="0">
                <a:solidFill>
                  <a:srgbClr val="1E262C"/>
                </a:solidFill>
                <a:latin typeface="Noto Naskh Arabic"/>
              </a:defRPr>
            </a:pPr>
            <a:r>
              <a:rPr lang="fa-IR" altLang="ar-SA" sz="2500" b="0" dirty="0">
                <a:solidFill>
                  <a:srgbClr val="1E262C"/>
                </a:solidFill>
                <a:latin typeface="Tahoma"/>
                <a:ea typeface="Tahoma"/>
                <a:cs typeface="Tahoma"/>
                <a:sym typeface="Tahoma"/>
              </a:rPr>
              <a:t>۷. وعده دوستی با دشمنان خدا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10698480"/>
            <a:ext cx="6400800" cy="4114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FFFFFF"/>
                </a:solidFill>
                <a:latin typeface="Noto Naskh Arabic"/>
              </a:defRPr>
            </a:pPr>
            <a:r>
              <a:rPr lang="fa-IR" altLang="ar-SA" sz="1400" b="1" dirty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مدارهای بالاتر: سبز روشن  |  مدارهای پایین‌تر: قرمز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DAFA37-754D-46ED-8180-7CBEEAE406BF}"/>
              </a:ext>
            </a:extLst>
          </p:cNvPr>
          <p:cNvSpPr txBox="1"/>
          <p:nvPr/>
        </p:nvSpPr>
        <p:spPr>
          <a:xfrm>
            <a:off x="7040880" y="10287768"/>
            <a:ext cx="7386320" cy="1930785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r" rtl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102D45"/>
                </a:solidFill>
                <a:latin typeface="Noto Naskh Arabic"/>
              </a:defRPr>
            </a:pPr>
            <a:r>
              <a:rPr lang="fa-IR" altLang="ar-SA" sz="2400" b="1" dirty="0">
                <a:solidFill>
                  <a:srgbClr val="102D45"/>
                </a:solidFill>
                <a:highlight>
                  <a:srgbClr val="00FF00"/>
                </a:highlight>
                <a:latin typeface="Tahoma"/>
                <a:ea typeface="Tahoma"/>
                <a:cs typeface="Tahoma"/>
                <a:sym typeface="Tahoma"/>
              </a:rPr>
              <a:t>چطوری وارد مدارهای بالاتر بشیم؟</a:t>
            </a:r>
          </a:p>
          <a:p>
            <a:pPr algn="r" rtl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102D45"/>
                </a:solidFill>
                <a:latin typeface="Noto Naskh Arabic"/>
              </a:defRPr>
            </a:pPr>
            <a:r>
              <a:rPr lang="fa-IR" altLang="ar-SA" sz="2400" b="0" dirty="0">
                <a:solidFill>
                  <a:srgbClr val="102D45"/>
                </a:solidFill>
                <a:highlight>
                  <a:srgbClr val="00FF00"/>
                </a:highlight>
                <a:latin typeface="Tahoma"/>
                <a:ea typeface="Tahoma"/>
                <a:cs typeface="Tahoma"/>
                <a:sym typeface="Tahoma"/>
              </a:rPr>
              <a:t>با ورودی‌های ذهن: همان ۵ آیه اول سوره حمد</a:t>
            </a:r>
          </a:p>
          <a:p>
            <a:pPr algn="r" rtl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102D45"/>
                </a:solidFill>
                <a:latin typeface="Noto Naskh Arabic"/>
              </a:defRPr>
            </a:pPr>
            <a:r>
              <a:rPr lang="fa-IR" altLang="ar-SA" sz="2400" b="0" dirty="0">
                <a:solidFill>
                  <a:srgbClr val="102D45"/>
                </a:solidFill>
                <a:highlight>
                  <a:srgbClr val="00FF00"/>
                </a:highlight>
                <a:latin typeface="Tahoma"/>
                <a:ea typeface="Tahoma"/>
                <a:cs typeface="Tahoma"/>
                <a:sym typeface="Tahoma"/>
              </a:rPr>
              <a:t>۱- باور فراوانی  |  ۲- باور شکرگذاری از خداوند</a:t>
            </a:r>
          </a:p>
          <a:p>
            <a:pPr algn="r" rtl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102D45"/>
                </a:solidFill>
                <a:latin typeface="Noto Naskh Arabic"/>
              </a:defRPr>
            </a:pPr>
            <a:r>
              <a:rPr lang="fa-IR" altLang="ar-SA" sz="2400" b="0" dirty="0">
                <a:solidFill>
                  <a:srgbClr val="102D45"/>
                </a:solidFill>
                <a:highlight>
                  <a:srgbClr val="00FF00"/>
                </a:highlight>
                <a:latin typeface="Tahoma"/>
                <a:ea typeface="Tahoma"/>
                <a:cs typeface="Tahoma"/>
                <a:sym typeface="Tahoma"/>
              </a:rPr>
              <a:t>۳- باور یکتاپرستی و موحد بودن  |  ۴- باور عدم شرک</a:t>
            </a:r>
          </a:p>
          <a:p>
            <a:pPr algn="r" rtl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102D45"/>
                </a:solidFill>
                <a:latin typeface="Noto Naskh Arabic"/>
              </a:defRPr>
            </a:pPr>
            <a:r>
              <a:rPr lang="fa-IR" altLang="ar-SA" sz="2400" b="0" dirty="0">
                <a:solidFill>
                  <a:srgbClr val="102D45"/>
                </a:solidFill>
                <a:highlight>
                  <a:srgbClr val="00FF00"/>
                </a:highlight>
                <a:latin typeface="Tahoma"/>
                <a:ea typeface="Tahoma"/>
                <a:cs typeface="Tahoma"/>
                <a:sym typeface="Tahoma"/>
              </a:rPr>
              <a:t>۵- قدرتی به کسی ندادن  |  ۶- ...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614C9C1-4134-4D84-9A47-AA2C69202F05}"/>
              </a:ext>
            </a:extLst>
          </p:cNvPr>
          <p:cNvSpPr txBox="1"/>
          <p:nvPr/>
        </p:nvSpPr>
        <p:spPr>
          <a:xfrm>
            <a:off x="982980" y="10012680"/>
            <a:ext cx="6446520" cy="585288"/>
          </a:xfrm>
          <a:prstGeom prst="rect">
            <a:avLst/>
          </a:prstGeom>
          <a:noFill/>
        </p:spPr>
        <p:txBody>
          <a:bodyPr wrap="square" lIns="137160" rIns="137160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2400" b="1">
                <a:solidFill>
                  <a:srgbClr val="FFFFFF"/>
                </a:solidFill>
                <a:latin typeface="Noto Naskh Arabic"/>
              </a:defRPr>
            </a:pPr>
            <a:r>
              <a:rPr lang="fa-IR" altLang="ar-SA" sz="3200" b="1" dirty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عمل + باور = (خواسته‌ها − نتیجه − هدف)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ide_cinematic_clean_infographic_infographic_b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945600" cy="1234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32120" y="320040"/>
            <a:ext cx="6858000" cy="572464"/>
          </a:xfrm>
          <a:prstGeom prst="rect">
            <a:avLst/>
          </a:prstGeom>
          <a:noFill/>
        </p:spPr>
        <p:txBody>
          <a:bodyPr wrap="square" lIns="109728" tIns="9144" rIns="109728" bIns="9144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2500" b="1">
                <a:solidFill>
                  <a:srgbClr val="FFFFFF"/>
                </a:solidFill>
                <a:latin typeface="Noto Naskh Arabic"/>
              </a:defRPr>
            </a:pPr>
            <a:r>
              <a:rPr lang="fa-IR" altLang="ar-SA" sz="3100" b="1" dirty="0">
                <a:solidFill>
                  <a:srgbClr val="10463A"/>
                </a:solidFill>
                <a:latin typeface="Tahoma"/>
                <a:ea typeface="Tahoma"/>
                <a:cs typeface="Tahoma"/>
                <a:sym typeface="Tahoma"/>
              </a:rPr>
              <a:t>به سمت خدا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11475720"/>
            <a:ext cx="6858000" cy="510909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FFEBEB"/>
                </a:solidFill>
                <a:latin typeface="Noto Naskh Arabic"/>
              </a:defRPr>
            </a:pPr>
            <a:r>
              <a:rPr lang="fa-IR" altLang="ar-SA" sz="2700" b="1" dirty="0">
                <a:solidFill>
                  <a:srgbClr val="FFE1E1"/>
                </a:solidFill>
                <a:latin typeface="Tahoma"/>
                <a:ea typeface="Tahoma"/>
                <a:cs typeface="Tahoma"/>
                <a:sym typeface="Tahoma"/>
              </a:rPr>
              <a:t>به سمت شیطان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8308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FFFFFF"/>
                </a:solidFill>
                <a:latin typeface="Noto Naskh Arabic"/>
              </a:defRPr>
            </a:pPr>
            <a:r>
              <a:rPr lang="fa-IR" sz="1900" b="1">
                <a:solidFill>
                  <a:srgbClr val="146442"/>
                </a:solidFill>
                <a:latin typeface="Tahoma"/>
                <a:ea typeface="Tahoma"/>
                <a:cs typeface="Tahoma"/>
                <a:sym typeface="Tahoma"/>
              </a:rPr>
              <a:t>+10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60604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FFFFFF"/>
                </a:solidFill>
                <a:latin typeface="Noto Naskh Arabic"/>
              </a:defRPr>
            </a:pPr>
            <a:r>
              <a:rPr lang="fa-IR" sz="1900" b="1">
                <a:solidFill>
                  <a:srgbClr val="146442"/>
                </a:solidFill>
                <a:latin typeface="Tahoma"/>
                <a:ea typeface="Tahoma"/>
                <a:cs typeface="Tahoma"/>
                <a:sym typeface="Tahoma"/>
              </a:rPr>
              <a:t>+8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42900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FFFFFF"/>
                </a:solidFill>
                <a:latin typeface="Noto Naskh Arabic"/>
              </a:defRPr>
            </a:pPr>
            <a:r>
              <a:rPr lang="fa-IR" sz="1900" b="1">
                <a:solidFill>
                  <a:srgbClr val="146442"/>
                </a:solidFill>
                <a:latin typeface="Tahoma"/>
                <a:ea typeface="Tahoma"/>
                <a:cs typeface="Tahoma"/>
                <a:sym typeface="Tahoma"/>
              </a:rPr>
              <a:t>+6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25196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FFFFFF"/>
                </a:solidFill>
                <a:latin typeface="Noto Naskh Arabic"/>
              </a:defRPr>
            </a:pPr>
            <a:r>
              <a:rPr lang="fa-IR" sz="1900" b="1">
                <a:solidFill>
                  <a:srgbClr val="146442"/>
                </a:solidFill>
                <a:latin typeface="Tahoma"/>
                <a:ea typeface="Tahoma"/>
                <a:cs typeface="Tahoma"/>
                <a:sym typeface="Tahoma"/>
              </a:rPr>
              <a:t>+4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07492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FFFFFF"/>
                </a:solidFill>
                <a:latin typeface="Noto Naskh Arabic"/>
              </a:defRPr>
            </a:pPr>
            <a:r>
              <a:rPr lang="fa-IR" sz="1900" b="1">
                <a:solidFill>
                  <a:srgbClr val="146442"/>
                </a:solidFill>
                <a:latin typeface="Tahoma"/>
                <a:ea typeface="Tahoma"/>
                <a:cs typeface="Tahoma"/>
                <a:sym typeface="Tahoma"/>
              </a:rPr>
              <a:t>+2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89788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FFFFFF"/>
                </a:solidFill>
                <a:latin typeface="Noto Naskh Arabic"/>
              </a:defRPr>
            </a:pPr>
            <a:r>
              <a:rPr lang="fa-IR" sz="1900" b="1">
                <a:solidFill>
                  <a:srgbClr val="102D45"/>
                </a:solidFill>
                <a:latin typeface="Tahoma"/>
                <a:ea typeface="Tahoma"/>
                <a:cs typeface="Tahoma"/>
                <a:sym typeface="Tahoma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72084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FFFFFF"/>
                </a:solidFill>
                <a:latin typeface="Noto Naskh Arabic"/>
              </a:defRPr>
            </a:pPr>
            <a:r>
              <a:rPr lang="fa-IR" sz="1900" b="1">
                <a:solidFill>
                  <a:srgbClr val="96231E"/>
                </a:solidFill>
                <a:latin typeface="Tahoma"/>
                <a:ea typeface="Tahoma"/>
                <a:cs typeface="Tahoma"/>
                <a:sym typeface="Tahoma"/>
              </a:rPr>
              <a:t>−2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754380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FFFFFF"/>
                </a:solidFill>
                <a:latin typeface="Noto Naskh Arabic"/>
              </a:defRPr>
            </a:pPr>
            <a:r>
              <a:rPr lang="fa-IR" sz="1900" b="1">
                <a:solidFill>
                  <a:srgbClr val="96231E"/>
                </a:solidFill>
                <a:latin typeface="Tahoma"/>
                <a:ea typeface="Tahoma"/>
                <a:cs typeface="Tahoma"/>
                <a:sym typeface="Tahoma"/>
              </a:rPr>
              <a:t>−4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836676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FFFFFF"/>
                </a:solidFill>
                <a:latin typeface="Noto Naskh Arabic"/>
              </a:defRPr>
            </a:pPr>
            <a:r>
              <a:rPr lang="fa-IR" sz="1900" b="1">
                <a:solidFill>
                  <a:srgbClr val="96231E"/>
                </a:solidFill>
                <a:latin typeface="Tahoma"/>
                <a:ea typeface="Tahoma"/>
                <a:cs typeface="Tahoma"/>
                <a:sym typeface="Tahoma"/>
              </a:rPr>
              <a:t>−6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918972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FFFFFF"/>
                </a:solidFill>
                <a:latin typeface="Noto Naskh Arabic"/>
              </a:defRPr>
            </a:pPr>
            <a:r>
              <a:rPr lang="fa-IR" sz="1900" b="1">
                <a:solidFill>
                  <a:srgbClr val="96231E"/>
                </a:solidFill>
                <a:latin typeface="Tahoma"/>
                <a:ea typeface="Tahoma"/>
                <a:cs typeface="Tahoma"/>
                <a:sym typeface="Tahoma"/>
              </a:rPr>
              <a:t>−10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392400" y="1188744"/>
            <a:ext cx="5684520" cy="3569760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spAutoFit/>
          </a:bodyPr>
          <a:lstStyle/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60" b="0">
                <a:solidFill>
                  <a:srgbClr val="1E262C"/>
                </a:solidFill>
                <a:latin typeface="Noto Naskh Arabic"/>
              </a:defRPr>
            </a:pPr>
            <a:r>
              <a:rPr lang="fa-IR" altLang="ar-SA" sz="2500" b="0" dirty="0">
                <a:solidFill>
                  <a:srgbClr val="1E262C"/>
                </a:solidFill>
                <a:latin typeface="Tahoma"/>
                <a:ea typeface="Tahoma"/>
                <a:cs typeface="Tahoma"/>
                <a:sym typeface="Tahoma"/>
              </a:rPr>
              <a:t>۱۹. وعده رفع غم و اندوه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60" b="0">
                <a:solidFill>
                  <a:srgbClr val="1E262C"/>
                </a:solidFill>
                <a:latin typeface="Noto Naskh Arabic"/>
              </a:defRPr>
            </a:pPr>
            <a:r>
              <a:rPr lang="fa-IR" altLang="ar-SA" sz="2500" b="0" dirty="0">
                <a:solidFill>
                  <a:srgbClr val="1E262C"/>
                </a:solidFill>
                <a:latin typeface="Tahoma"/>
                <a:ea typeface="Tahoma"/>
                <a:cs typeface="Tahoma"/>
                <a:sym typeface="Tahoma"/>
              </a:rPr>
              <a:t>۱۰. وعده استجابت دعا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60" b="0">
                <a:solidFill>
                  <a:srgbClr val="1E262C"/>
                </a:solidFill>
                <a:latin typeface="Noto Naskh Arabic"/>
              </a:defRPr>
            </a:pPr>
            <a:r>
              <a:rPr lang="fa-IR" altLang="ar-SA" sz="2500" b="0" dirty="0">
                <a:solidFill>
                  <a:srgbClr val="1E262C"/>
                </a:solidFill>
                <a:latin typeface="Tahoma"/>
                <a:ea typeface="Tahoma"/>
                <a:cs typeface="Tahoma"/>
                <a:sym typeface="Tahoma"/>
              </a:rPr>
              <a:t>۱۱. وعده دیدن جمال الهی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60" b="0">
                <a:solidFill>
                  <a:srgbClr val="1E262C"/>
                </a:solidFill>
                <a:latin typeface="Noto Naskh Arabic"/>
              </a:defRPr>
            </a:pPr>
            <a:r>
              <a:rPr lang="fa-IR" altLang="ar-SA" sz="2500" b="0" dirty="0">
                <a:solidFill>
                  <a:srgbClr val="1E262C"/>
                </a:solidFill>
                <a:latin typeface="Tahoma"/>
                <a:ea typeface="Tahoma"/>
                <a:cs typeface="Tahoma"/>
                <a:sym typeface="Tahoma"/>
              </a:rPr>
              <a:t>۱۲. وعده هدایت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60" b="0">
                <a:solidFill>
                  <a:srgbClr val="1E262C"/>
                </a:solidFill>
                <a:latin typeface="Noto Naskh Arabic"/>
              </a:defRPr>
            </a:pPr>
            <a:r>
              <a:rPr lang="fa-IR" altLang="ar-SA" sz="2500" b="0" dirty="0">
                <a:solidFill>
                  <a:srgbClr val="1E262C"/>
                </a:solidFill>
                <a:latin typeface="Tahoma"/>
                <a:ea typeface="Tahoma"/>
                <a:cs typeface="Tahoma"/>
                <a:sym typeface="Tahoma"/>
              </a:rPr>
              <a:t>۱۳. وعده برکت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60" b="0">
                <a:solidFill>
                  <a:srgbClr val="1E262C"/>
                </a:solidFill>
                <a:latin typeface="Noto Naskh Arabic"/>
              </a:defRPr>
            </a:pPr>
            <a:r>
              <a:rPr lang="fa-IR" altLang="ar-SA" sz="2500" b="0" dirty="0">
                <a:solidFill>
                  <a:srgbClr val="1E262C"/>
                </a:solidFill>
                <a:latin typeface="Tahoma"/>
                <a:ea typeface="Tahoma"/>
                <a:cs typeface="Tahoma"/>
                <a:sym typeface="Tahoma"/>
              </a:rPr>
              <a:t>۱۴. وعده نور و هدایت در تاریکی‌ها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60" b="0">
                <a:solidFill>
                  <a:srgbClr val="1E262C"/>
                </a:solidFill>
                <a:latin typeface="Noto Naskh Arabic"/>
              </a:defRPr>
            </a:pPr>
            <a:r>
              <a:rPr lang="fa-IR" altLang="ar-SA" sz="2500" b="0" dirty="0">
                <a:solidFill>
                  <a:srgbClr val="1E262C"/>
                </a:solidFill>
                <a:latin typeface="Tahoma"/>
                <a:ea typeface="Tahoma"/>
                <a:cs typeface="Tahoma"/>
                <a:sym typeface="Tahoma"/>
              </a:rPr>
              <a:t>۱۵. وعده استخلاف و وارث بودن صالحان و مستضعفین بر زمین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50440" y="5849456"/>
            <a:ext cx="6126480" cy="3177345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spAutoFit/>
          </a:bodyPr>
          <a:lstStyle/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80" b="0">
                <a:solidFill>
                  <a:srgbClr val="1E262C"/>
                </a:solidFill>
                <a:latin typeface="Noto Naskh Arabic"/>
              </a:defRPr>
            </a:pPr>
            <a:endParaRPr lang="fa-IR" sz="2500" dirty="0">
              <a:latin typeface="Noto Naskh Arabic"/>
            </a:endParaRP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80" b="0">
                <a:solidFill>
                  <a:srgbClr val="1E262C"/>
                </a:solidFill>
                <a:latin typeface="Noto Naskh Arabic"/>
              </a:defRPr>
            </a:pPr>
            <a:r>
              <a:rPr lang="fa-IR" altLang="ar-SA" sz="2500" b="0" dirty="0">
                <a:solidFill>
                  <a:srgbClr val="1E262C"/>
                </a:solidFill>
                <a:latin typeface="Tahoma"/>
                <a:ea typeface="Tahoma"/>
                <a:cs typeface="Tahoma"/>
                <a:sym typeface="Tahoma"/>
              </a:rPr>
              <a:t>۸. وعده نجات دروغین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80" b="0">
                <a:solidFill>
                  <a:srgbClr val="1E262C"/>
                </a:solidFill>
                <a:latin typeface="Noto Naskh Arabic"/>
              </a:defRPr>
            </a:pPr>
            <a:r>
              <a:rPr lang="fa-IR" altLang="ar-SA" sz="2500" b="0" dirty="0">
                <a:solidFill>
                  <a:srgbClr val="1E262C"/>
                </a:solidFill>
                <a:latin typeface="Tahoma"/>
                <a:ea typeface="Tahoma"/>
                <a:cs typeface="Tahoma"/>
                <a:sym typeface="Tahoma"/>
              </a:rPr>
              <a:t>۹. وعده ترساندن مؤمنان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80" b="0">
                <a:solidFill>
                  <a:srgbClr val="1E262C"/>
                </a:solidFill>
                <a:latin typeface="Noto Naskh Arabic"/>
              </a:defRPr>
            </a:pPr>
            <a:r>
              <a:rPr lang="fa-IR" altLang="ar-SA" sz="2500" b="0" dirty="0">
                <a:solidFill>
                  <a:srgbClr val="1E262C"/>
                </a:solidFill>
                <a:latin typeface="Tahoma"/>
                <a:ea typeface="Tahoma"/>
                <a:cs typeface="Tahoma"/>
                <a:sym typeface="Tahoma"/>
              </a:rPr>
              <a:t>۱۰. وعده تسویف و دور کردن توبه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80" b="0">
                <a:solidFill>
                  <a:srgbClr val="1E262C"/>
                </a:solidFill>
                <a:latin typeface="Noto Naskh Arabic"/>
              </a:defRPr>
            </a:pPr>
            <a:r>
              <a:rPr lang="fa-IR" altLang="ar-SA" sz="2500" b="0" dirty="0">
                <a:solidFill>
                  <a:srgbClr val="1E262C"/>
                </a:solidFill>
                <a:latin typeface="Tahoma"/>
                <a:ea typeface="Tahoma"/>
                <a:cs typeface="Tahoma"/>
                <a:sym typeface="Tahoma"/>
              </a:rPr>
              <a:t>۱۱. وعده بخشش گناهان و بی‌اهمیت جلوه دادن گناه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80" b="0">
                <a:solidFill>
                  <a:srgbClr val="1E262C"/>
                </a:solidFill>
                <a:latin typeface="Noto Naskh Arabic"/>
              </a:defRPr>
            </a:pPr>
            <a:r>
              <a:rPr lang="fa-IR" altLang="ar-SA" sz="2500" b="0" dirty="0">
                <a:solidFill>
                  <a:srgbClr val="1E262C"/>
                </a:solidFill>
                <a:latin typeface="Tahoma"/>
                <a:ea typeface="Tahoma"/>
                <a:cs typeface="Tahoma"/>
                <a:sym typeface="Tahoma"/>
              </a:rPr>
              <a:t>۱۲. وعده ایجاد شک و شبهه در اصول و اعتقادات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80" b="0">
                <a:solidFill>
                  <a:srgbClr val="1E262C"/>
                </a:solidFill>
                <a:latin typeface="Noto Naskh Arabic"/>
              </a:defRPr>
            </a:pPr>
            <a:r>
              <a:rPr lang="fa-IR" altLang="ar-SA" sz="2500" b="0" dirty="0">
                <a:solidFill>
                  <a:srgbClr val="1E262C"/>
                </a:solidFill>
                <a:latin typeface="Tahoma"/>
                <a:ea typeface="Tahoma"/>
                <a:cs typeface="Tahoma"/>
                <a:sym typeface="Tahoma"/>
              </a:rPr>
              <a:t>۱۳. وعده غفلت و فراموشی خدا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B75B6D-7CAA-4601-92E2-A9F70B806304}"/>
              </a:ext>
            </a:extLst>
          </p:cNvPr>
          <p:cNvSpPr txBox="1"/>
          <p:nvPr/>
        </p:nvSpPr>
        <p:spPr>
          <a:xfrm>
            <a:off x="14538960" y="594360"/>
            <a:ext cx="5943600" cy="449354"/>
          </a:xfrm>
          <a:prstGeom prst="rect">
            <a:avLst/>
          </a:prstGeom>
          <a:noFill/>
        </p:spPr>
        <p:txBody>
          <a:bodyPr wrap="square" lIns="109728" tIns="9144" rIns="109728" bIns="9144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46442"/>
                </a:solidFill>
                <a:latin typeface="Noto Naskh Arabic"/>
              </a:defRPr>
            </a:pPr>
            <a:r>
              <a:rPr lang="fa-IR" altLang="ar-SA" sz="2200" b="1" dirty="0">
                <a:solidFill>
                  <a:srgbClr val="146442"/>
                </a:solidFill>
                <a:latin typeface="Tahoma"/>
                <a:ea typeface="Tahoma"/>
                <a:cs typeface="Tahoma"/>
                <a:sym typeface="Tahoma"/>
              </a:rPr>
              <a:t>بیشتر | وعده‌های خداوند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0B8203-EC4D-4C26-85B3-99DB1C7A3406}"/>
              </a:ext>
            </a:extLst>
          </p:cNvPr>
          <p:cNvSpPr txBox="1"/>
          <p:nvPr/>
        </p:nvSpPr>
        <p:spPr>
          <a:xfrm>
            <a:off x="14356080" y="5448526"/>
            <a:ext cx="5943600" cy="449354"/>
          </a:xfrm>
          <a:prstGeom prst="rect">
            <a:avLst/>
          </a:prstGeom>
          <a:noFill/>
        </p:spPr>
        <p:txBody>
          <a:bodyPr wrap="square" lIns="109728" tIns="9144" rIns="109728" bIns="9144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96231E"/>
                </a:solidFill>
                <a:latin typeface="Noto Naskh Arabic"/>
              </a:defRPr>
            </a:pPr>
            <a:r>
              <a:rPr lang="fa-IR" altLang="ar-SA" sz="2200" b="1" dirty="0">
                <a:solidFill>
                  <a:srgbClr val="96231E"/>
                </a:solidFill>
                <a:latin typeface="Tahoma"/>
                <a:ea typeface="Tahoma"/>
                <a:cs typeface="Tahoma"/>
                <a:sym typeface="Tahoma"/>
              </a:rPr>
              <a:t>کمتر | وعده‌های شیطان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7158FE5-29C9-41FC-A82E-D434A69A9464}"/>
              </a:ext>
            </a:extLst>
          </p:cNvPr>
          <p:cNvSpPr txBox="1"/>
          <p:nvPr/>
        </p:nvSpPr>
        <p:spPr>
          <a:xfrm>
            <a:off x="640080" y="10698480"/>
            <a:ext cx="6400800" cy="4114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FFFFFF"/>
                </a:solidFill>
                <a:latin typeface="Noto Naskh Arabic"/>
              </a:defRPr>
            </a:pPr>
            <a:r>
              <a:rPr lang="fa-IR" altLang="ar-SA" sz="1400" b="1" dirty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مدارهای بالاتر: سبز روشن  |  مدارهای پایین‌تر: قرمز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05966B7-A3A9-42DA-8BA3-186FBB7C88E4}"/>
              </a:ext>
            </a:extLst>
          </p:cNvPr>
          <p:cNvSpPr txBox="1"/>
          <p:nvPr/>
        </p:nvSpPr>
        <p:spPr>
          <a:xfrm>
            <a:off x="7040880" y="10287768"/>
            <a:ext cx="7386320" cy="1930785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r" rtl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102D45"/>
                </a:solidFill>
                <a:latin typeface="Noto Naskh Arabic"/>
              </a:defRPr>
            </a:pPr>
            <a:r>
              <a:rPr lang="fa-IR" altLang="ar-SA" sz="2400" b="1" dirty="0">
                <a:solidFill>
                  <a:srgbClr val="102D45"/>
                </a:solidFill>
                <a:highlight>
                  <a:srgbClr val="00FF00"/>
                </a:highlight>
                <a:latin typeface="Tahoma"/>
                <a:ea typeface="Tahoma"/>
                <a:cs typeface="Tahoma"/>
                <a:sym typeface="Tahoma"/>
              </a:rPr>
              <a:t>چطوری وارد مدارهای بالاتر بشیم؟</a:t>
            </a:r>
          </a:p>
          <a:p>
            <a:pPr algn="r" rtl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102D45"/>
                </a:solidFill>
                <a:latin typeface="Noto Naskh Arabic"/>
              </a:defRPr>
            </a:pPr>
            <a:r>
              <a:rPr lang="fa-IR" altLang="ar-SA" sz="2400" b="0" dirty="0">
                <a:solidFill>
                  <a:srgbClr val="102D45"/>
                </a:solidFill>
                <a:highlight>
                  <a:srgbClr val="00FF00"/>
                </a:highlight>
                <a:latin typeface="Tahoma"/>
                <a:ea typeface="Tahoma"/>
                <a:cs typeface="Tahoma"/>
                <a:sym typeface="Tahoma"/>
              </a:rPr>
              <a:t>با ورودی‌های ذهن: همان ۵ آیه اول سوره حمد</a:t>
            </a:r>
          </a:p>
          <a:p>
            <a:pPr algn="r" rtl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102D45"/>
                </a:solidFill>
                <a:latin typeface="Noto Naskh Arabic"/>
              </a:defRPr>
            </a:pPr>
            <a:r>
              <a:rPr lang="fa-IR" altLang="ar-SA" sz="2400" b="0" dirty="0">
                <a:solidFill>
                  <a:srgbClr val="102D45"/>
                </a:solidFill>
                <a:highlight>
                  <a:srgbClr val="00FF00"/>
                </a:highlight>
                <a:latin typeface="Tahoma"/>
                <a:ea typeface="Tahoma"/>
                <a:cs typeface="Tahoma"/>
                <a:sym typeface="Tahoma"/>
              </a:rPr>
              <a:t>۱- باور فراوانی  |  ۲- باور شکرگذاری از خداوند</a:t>
            </a:r>
          </a:p>
          <a:p>
            <a:pPr algn="r" rtl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102D45"/>
                </a:solidFill>
                <a:latin typeface="Noto Naskh Arabic"/>
              </a:defRPr>
            </a:pPr>
            <a:r>
              <a:rPr lang="fa-IR" altLang="ar-SA" sz="2400" b="0" dirty="0">
                <a:solidFill>
                  <a:srgbClr val="102D45"/>
                </a:solidFill>
                <a:highlight>
                  <a:srgbClr val="00FF00"/>
                </a:highlight>
                <a:latin typeface="Tahoma"/>
                <a:ea typeface="Tahoma"/>
                <a:cs typeface="Tahoma"/>
                <a:sym typeface="Tahoma"/>
              </a:rPr>
              <a:t>۳- باور یکتاپرستی و موحد بودن  |  ۴- باور عدم شرک</a:t>
            </a:r>
          </a:p>
          <a:p>
            <a:pPr algn="r" rtl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102D45"/>
                </a:solidFill>
                <a:latin typeface="Noto Naskh Arabic"/>
              </a:defRPr>
            </a:pPr>
            <a:r>
              <a:rPr lang="fa-IR" altLang="ar-SA" sz="2400" b="0" dirty="0">
                <a:solidFill>
                  <a:srgbClr val="102D45"/>
                </a:solidFill>
                <a:highlight>
                  <a:srgbClr val="00FF00"/>
                </a:highlight>
                <a:latin typeface="Tahoma"/>
                <a:ea typeface="Tahoma"/>
                <a:cs typeface="Tahoma"/>
                <a:sym typeface="Tahoma"/>
              </a:rPr>
              <a:t>۵- قدرتی به کسی ندادن  |  ۶- ...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5B3E35B-7BF3-4F23-9117-E479A89A509B}"/>
              </a:ext>
            </a:extLst>
          </p:cNvPr>
          <p:cNvSpPr txBox="1"/>
          <p:nvPr/>
        </p:nvSpPr>
        <p:spPr>
          <a:xfrm>
            <a:off x="982980" y="10012680"/>
            <a:ext cx="6446520" cy="585288"/>
          </a:xfrm>
          <a:prstGeom prst="rect">
            <a:avLst/>
          </a:prstGeom>
          <a:noFill/>
        </p:spPr>
        <p:txBody>
          <a:bodyPr wrap="square" lIns="137160" rIns="137160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2400" b="1">
                <a:solidFill>
                  <a:srgbClr val="FFFFFF"/>
                </a:solidFill>
                <a:latin typeface="Noto Naskh Arabic"/>
              </a:defRPr>
            </a:pPr>
            <a:r>
              <a:rPr lang="fa-IR" altLang="ar-SA" sz="3200" b="1" dirty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عمل + باور = (خواسته‌ها − نتیجه − هدف)</a:t>
            </a:r>
          </a:p>
        </p:txBody>
      </p:sp>
    </p:spTree>
    <p:extLst>
      <p:ext uri="{BB962C8B-B14F-4D97-AF65-F5344CB8AC3E}">
        <p14:creationId xmlns:p14="http://schemas.microsoft.com/office/powerpoint/2010/main" val="2220379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ide_cinematic_clean_infographic_infographic_ba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1945600" cy="1234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32120" y="320040"/>
            <a:ext cx="6858000" cy="572464"/>
          </a:xfrm>
          <a:prstGeom prst="rect">
            <a:avLst/>
          </a:prstGeom>
          <a:noFill/>
        </p:spPr>
        <p:txBody>
          <a:bodyPr wrap="square" lIns="109728" tIns="9144" rIns="109728" bIns="9144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2500" b="1">
                <a:solidFill>
                  <a:srgbClr val="FFFFFF"/>
                </a:solidFill>
                <a:latin typeface="Noto Naskh Arabic"/>
              </a:defRPr>
            </a:pPr>
            <a:r>
              <a:rPr lang="fa-IR" altLang="ar-SA" sz="3100" b="1" dirty="0">
                <a:solidFill>
                  <a:srgbClr val="10463A"/>
                </a:solidFill>
                <a:latin typeface="Tahoma"/>
                <a:ea typeface="Tahoma"/>
                <a:cs typeface="Tahoma"/>
                <a:sym typeface="Tahoma"/>
              </a:rPr>
              <a:t>به سمت خدا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11475720"/>
            <a:ext cx="6858000" cy="510909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FFEBEB"/>
                </a:solidFill>
                <a:latin typeface="Noto Naskh Arabic"/>
              </a:defRPr>
            </a:pPr>
            <a:r>
              <a:rPr lang="fa-IR" altLang="ar-SA" sz="2700" b="1" dirty="0">
                <a:solidFill>
                  <a:srgbClr val="FFE1E1"/>
                </a:solidFill>
                <a:latin typeface="Tahoma"/>
                <a:ea typeface="Tahoma"/>
                <a:cs typeface="Tahoma"/>
                <a:sym typeface="Tahoma"/>
              </a:rPr>
              <a:t>به سمت شیطان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8308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FFFFFF"/>
                </a:solidFill>
                <a:latin typeface="Noto Naskh Arabic"/>
              </a:defRPr>
            </a:pPr>
            <a:r>
              <a:rPr lang="fa-IR" sz="1900" b="1">
                <a:solidFill>
                  <a:srgbClr val="146442"/>
                </a:solidFill>
                <a:latin typeface="Tahoma"/>
                <a:ea typeface="Tahoma"/>
                <a:cs typeface="Tahoma"/>
                <a:sym typeface="Tahoma"/>
              </a:rPr>
              <a:t>+10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60604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FFFFFF"/>
                </a:solidFill>
                <a:latin typeface="Noto Naskh Arabic"/>
              </a:defRPr>
            </a:pPr>
            <a:r>
              <a:rPr lang="fa-IR" sz="1900" b="1">
                <a:solidFill>
                  <a:srgbClr val="146442"/>
                </a:solidFill>
                <a:latin typeface="Tahoma"/>
                <a:ea typeface="Tahoma"/>
                <a:cs typeface="Tahoma"/>
                <a:sym typeface="Tahoma"/>
              </a:rPr>
              <a:t>+8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42900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FFFFFF"/>
                </a:solidFill>
                <a:latin typeface="Noto Naskh Arabic"/>
              </a:defRPr>
            </a:pPr>
            <a:r>
              <a:rPr lang="fa-IR" sz="1900" b="1">
                <a:solidFill>
                  <a:srgbClr val="146442"/>
                </a:solidFill>
                <a:latin typeface="Tahoma"/>
                <a:ea typeface="Tahoma"/>
                <a:cs typeface="Tahoma"/>
                <a:sym typeface="Tahoma"/>
              </a:rPr>
              <a:t>+6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25196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FFFFFF"/>
                </a:solidFill>
                <a:latin typeface="Noto Naskh Arabic"/>
              </a:defRPr>
            </a:pPr>
            <a:r>
              <a:rPr lang="fa-IR" sz="1900" b="1">
                <a:solidFill>
                  <a:srgbClr val="146442"/>
                </a:solidFill>
                <a:latin typeface="Tahoma"/>
                <a:ea typeface="Tahoma"/>
                <a:cs typeface="Tahoma"/>
                <a:sym typeface="Tahoma"/>
              </a:rPr>
              <a:t>+4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07492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FFFFFF"/>
                </a:solidFill>
                <a:latin typeface="Noto Naskh Arabic"/>
              </a:defRPr>
            </a:pPr>
            <a:r>
              <a:rPr lang="fa-IR" sz="1900" b="1">
                <a:solidFill>
                  <a:srgbClr val="146442"/>
                </a:solidFill>
                <a:latin typeface="Tahoma"/>
                <a:ea typeface="Tahoma"/>
                <a:cs typeface="Tahoma"/>
                <a:sym typeface="Tahoma"/>
              </a:rPr>
              <a:t>+2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89788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FFFFFF"/>
                </a:solidFill>
                <a:latin typeface="Noto Naskh Arabic"/>
              </a:defRPr>
            </a:pPr>
            <a:r>
              <a:rPr lang="fa-IR" sz="1900" b="1">
                <a:solidFill>
                  <a:srgbClr val="102D45"/>
                </a:solidFill>
                <a:latin typeface="Tahoma"/>
                <a:ea typeface="Tahoma"/>
                <a:cs typeface="Tahoma"/>
                <a:sym typeface="Tahoma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72084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FFFFFF"/>
                </a:solidFill>
                <a:latin typeface="Noto Naskh Arabic"/>
              </a:defRPr>
            </a:pPr>
            <a:r>
              <a:rPr lang="fa-IR" sz="1900" b="1">
                <a:solidFill>
                  <a:srgbClr val="96231E"/>
                </a:solidFill>
                <a:latin typeface="Tahoma"/>
                <a:ea typeface="Tahoma"/>
                <a:cs typeface="Tahoma"/>
                <a:sym typeface="Tahoma"/>
              </a:rPr>
              <a:t>−2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754380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FFFFFF"/>
                </a:solidFill>
                <a:latin typeface="Noto Naskh Arabic"/>
              </a:defRPr>
            </a:pPr>
            <a:r>
              <a:rPr lang="fa-IR" sz="1900" b="1">
                <a:solidFill>
                  <a:srgbClr val="96231E"/>
                </a:solidFill>
                <a:latin typeface="Tahoma"/>
                <a:ea typeface="Tahoma"/>
                <a:cs typeface="Tahoma"/>
                <a:sym typeface="Tahoma"/>
              </a:rPr>
              <a:t>−4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836676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FFFFFF"/>
                </a:solidFill>
                <a:latin typeface="Noto Naskh Arabic"/>
              </a:defRPr>
            </a:pPr>
            <a:r>
              <a:rPr lang="fa-IR" sz="1900" b="1">
                <a:solidFill>
                  <a:srgbClr val="96231E"/>
                </a:solidFill>
                <a:latin typeface="Tahoma"/>
                <a:ea typeface="Tahoma"/>
                <a:cs typeface="Tahoma"/>
                <a:sym typeface="Tahoma"/>
              </a:rPr>
              <a:t>−6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918972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FFFFFF"/>
                </a:solidFill>
                <a:latin typeface="Noto Naskh Arabic"/>
              </a:defRPr>
            </a:pPr>
            <a:r>
              <a:rPr lang="fa-IR" sz="1900" b="1">
                <a:solidFill>
                  <a:srgbClr val="96231E"/>
                </a:solidFill>
                <a:latin typeface="Tahoma"/>
                <a:ea typeface="Tahoma"/>
                <a:cs typeface="Tahoma"/>
                <a:sym typeface="Tahoma"/>
              </a:rPr>
              <a:t>−10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392400" y="1173355"/>
            <a:ext cx="5684520" cy="3126049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spAutoFit/>
          </a:bodyPr>
          <a:lstStyle/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60" b="0">
                <a:solidFill>
                  <a:srgbClr val="1E262C"/>
                </a:solidFill>
                <a:latin typeface="Noto Naskh Arabic"/>
              </a:defRPr>
            </a:pPr>
            <a:r>
              <a:rPr lang="fa-IR" altLang="ar-SA" sz="2500" b="0" dirty="0">
                <a:solidFill>
                  <a:srgbClr val="1E262C"/>
                </a:solidFill>
                <a:latin typeface="Tahoma"/>
                <a:ea typeface="Tahoma"/>
                <a:cs typeface="Tahoma"/>
                <a:sym typeface="Tahoma"/>
              </a:rPr>
              <a:t>۱۶. وعده گشایش در کار و زندگی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60" b="0">
                <a:solidFill>
                  <a:srgbClr val="1E262C"/>
                </a:solidFill>
                <a:latin typeface="Noto Naskh Arabic"/>
              </a:defRPr>
            </a:pPr>
            <a:r>
              <a:rPr lang="fa-IR" altLang="ar-SA" sz="2500" b="0" dirty="0">
                <a:solidFill>
                  <a:srgbClr val="1E262C"/>
                </a:solidFill>
                <a:latin typeface="Tahoma"/>
                <a:ea typeface="Tahoma"/>
                <a:cs typeface="Tahoma"/>
                <a:sym typeface="Tahoma"/>
              </a:rPr>
              <a:t>۱۷. وعده افزایش علم و حکمت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60" b="0">
                <a:solidFill>
                  <a:srgbClr val="1E262C"/>
                </a:solidFill>
                <a:latin typeface="Noto Naskh Arabic"/>
              </a:defRPr>
            </a:pPr>
            <a:r>
              <a:rPr lang="fa-IR" altLang="ar-SA" sz="2500" b="0" dirty="0">
                <a:solidFill>
                  <a:srgbClr val="1E262C"/>
                </a:solidFill>
                <a:latin typeface="Tahoma"/>
                <a:ea typeface="Tahoma"/>
                <a:cs typeface="Tahoma"/>
                <a:sym typeface="Tahoma"/>
              </a:rPr>
              <a:t>۱۸. وعده رحمت خاص الهی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60" b="0">
                <a:solidFill>
                  <a:srgbClr val="1E262C"/>
                </a:solidFill>
                <a:latin typeface="Noto Naskh Arabic"/>
              </a:defRPr>
            </a:pPr>
            <a:r>
              <a:rPr lang="fa-IR" altLang="ar-SA" sz="2500" b="0" dirty="0">
                <a:solidFill>
                  <a:srgbClr val="1E262C"/>
                </a:solidFill>
                <a:latin typeface="Tahoma"/>
                <a:ea typeface="Tahoma"/>
                <a:cs typeface="Tahoma"/>
                <a:sym typeface="Tahoma"/>
              </a:rPr>
              <a:t>۱۹. وعده یاری با فرشتگان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60" b="0">
                <a:solidFill>
                  <a:srgbClr val="1E262C"/>
                </a:solidFill>
                <a:latin typeface="Noto Naskh Arabic"/>
              </a:defRPr>
            </a:pPr>
            <a:r>
              <a:rPr lang="fa-IR" altLang="ar-SA" sz="2500" b="0" dirty="0">
                <a:solidFill>
                  <a:srgbClr val="1E262C"/>
                </a:solidFill>
                <a:latin typeface="Tahoma"/>
                <a:ea typeface="Tahoma"/>
                <a:cs typeface="Tahoma"/>
                <a:sym typeface="Tahoma"/>
              </a:rPr>
              <a:t>۲۰. وعده رهایی از عذاب جهنم برای مؤمنان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60" b="0">
                <a:solidFill>
                  <a:srgbClr val="1E262C"/>
                </a:solidFill>
                <a:latin typeface="Noto Naskh Arabic"/>
              </a:defRPr>
            </a:pPr>
            <a:r>
              <a:rPr lang="fa-IR" altLang="ar-SA" sz="2500" b="0" dirty="0">
                <a:solidFill>
                  <a:srgbClr val="1E262C"/>
                </a:solidFill>
                <a:latin typeface="Tahoma"/>
                <a:ea typeface="Tahoma"/>
                <a:cs typeface="Tahoma"/>
                <a:sym typeface="Tahoma"/>
              </a:rPr>
              <a:t>۲۱. وعده شفاعت، حشر با اولیای الهی، بخشش با اعمال صالح، ارتقا درجات بهشتی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171420" y="5855664"/>
            <a:ext cx="6126480" cy="3569760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spAutoFit/>
          </a:bodyPr>
          <a:lstStyle/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80" b="0">
                <a:solidFill>
                  <a:srgbClr val="1E262C"/>
                </a:solidFill>
                <a:latin typeface="Noto Naskh Arabic"/>
              </a:defRPr>
            </a:pPr>
            <a:r>
              <a:rPr lang="fa-IR" altLang="ar-SA" sz="2500" b="0" dirty="0">
                <a:solidFill>
                  <a:srgbClr val="1E262C"/>
                </a:solidFill>
                <a:latin typeface="Tahoma"/>
                <a:ea typeface="Tahoma"/>
                <a:cs typeface="Tahoma"/>
                <a:sym typeface="Tahoma"/>
              </a:rPr>
              <a:t>۱۴. وعده برتری و کمال کاذب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80" b="0">
                <a:solidFill>
                  <a:srgbClr val="1E262C"/>
                </a:solidFill>
                <a:latin typeface="Noto Naskh Arabic"/>
              </a:defRPr>
            </a:pPr>
            <a:r>
              <a:rPr lang="fa-IR" altLang="ar-SA" sz="2500" b="0" dirty="0">
                <a:solidFill>
                  <a:srgbClr val="1E262C"/>
                </a:solidFill>
                <a:latin typeface="Tahoma"/>
                <a:ea typeface="Tahoma"/>
                <a:cs typeface="Tahoma"/>
                <a:sym typeface="Tahoma"/>
              </a:rPr>
              <a:t>۱۵. وعده حسادت، کینه و عداوت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80" b="0">
                <a:solidFill>
                  <a:srgbClr val="1E262C"/>
                </a:solidFill>
                <a:latin typeface="Noto Naskh Arabic"/>
              </a:defRPr>
            </a:pPr>
            <a:r>
              <a:rPr lang="fa-IR" altLang="ar-SA" sz="2500" b="0" dirty="0">
                <a:solidFill>
                  <a:srgbClr val="1E262C"/>
                </a:solidFill>
                <a:latin typeface="Tahoma"/>
                <a:ea typeface="Tahoma"/>
                <a:cs typeface="Tahoma"/>
                <a:sym typeface="Tahoma"/>
              </a:rPr>
              <a:t>۱۶. وعده تنبلی و سستی در واجبات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80" b="0">
                <a:solidFill>
                  <a:srgbClr val="1E262C"/>
                </a:solidFill>
                <a:latin typeface="Noto Naskh Arabic"/>
              </a:defRPr>
            </a:pPr>
            <a:r>
              <a:rPr lang="fa-IR" altLang="ar-SA" sz="2500" b="0" dirty="0">
                <a:solidFill>
                  <a:srgbClr val="1E262C"/>
                </a:solidFill>
                <a:latin typeface="Tahoma"/>
                <a:ea typeface="Tahoma"/>
                <a:cs typeface="Tahoma"/>
                <a:sym typeface="Tahoma"/>
              </a:rPr>
              <a:t>۱۷. وعده ناامیدی از رحمت خدا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80" b="0">
                <a:solidFill>
                  <a:srgbClr val="1E262C"/>
                </a:solidFill>
                <a:latin typeface="Noto Naskh Arabic"/>
              </a:defRPr>
            </a:pPr>
            <a:r>
              <a:rPr lang="fa-IR" altLang="ar-SA" sz="2500" b="0" dirty="0">
                <a:solidFill>
                  <a:srgbClr val="1E262C"/>
                </a:solidFill>
                <a:latin typeface="Tahoma"/>
                <a:ea typeface="Tahoma"/>
                <a:cs typeface="Tahoma"/>
                <a:sym typeface="Tahoma"/>
              </a:rPr>
              <a:t>۱۸. وعده آزادی مطلق و رهایی از قید و بندها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80" b="0">
                <a:solidFill>
                  <a:srgbClr val="1E262C"/>
                </a:solidFill>
                <a:latin typeface="Noto Naskh Arabic"/>
              </a:defRPr>
            </a:pPr>
            <a:r>
              <a:rPr lang="fa-IR" altLang="ar-SA" sz="2500" b="0" dirty="0">
                <a:solidFill>
                  <a:srgbClr val="1E262C"/>
                </a:solidFill>
                <a:latin typeface="Tahoma"/>
                <a:ea typeface="Tahoma"/>
                <a:cs typeface="Tahoma"/>
                <a:sym typeface="Tahoma"/>
              </a:rPr>
              <a:t>۱۹. وعده ایمن ماندن از آزمایش و عذاب الهی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80" b="0">
                <a:solidFill>
                  <a:srgbClr val="1E262C"/>
                </a:solidFill>
                <a:latin typeface="Noto Naskh Arabic"/>
              </a:defRPr>
            </a:pPr>
            <a:r>
              <a:rPr lang="fa-IR" altLang="ar-SA" sz="2500" b="0" dirty="0">
                <a:solidFill>
                  <a:srgbClr val="1E262C"/>
                </a:solidFill>
                <a:latin typeface="Tahoma"/>
                <a:ea typeface="Tahoma"/>
                <a:cs typeface="Tahoma"/>
                <a:sym typeface="Tahoma"/>
              </a:rPr>
              <a:t>۲۰. وعده گناهانی مانند ربا، دروغ، غیبت، تهمت، ریا، خیانت، بخل، شرک و احتکار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FC15087-A8DA-4753-B59C-DB770897A73D}"/>
              </a:ext>
            </a:extLst>
          </p:cNvPr>
          <p:cNvSpPr txBox="1"/>
          <p:nvPr/>
        </p:nvSpPr>
        <p:spPr>
          <a:xfrm>
            <a:off x="14538960" y="594360"/>
            <a:ext cx="5943600" cy="449354"/>
          </a:xfrm>
          <a:prstGeom prst="rect">
            <a:avLst/>
          </a:prstGeom>
          <a:noFill/>
        </p:spPr>
        <p:txBody>
          <a:bodyPr wrap="square" lIns="109728" tIns="9144" rIns="109728" bIns="9144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46442"/>
                </a:solidFill>
                <a:latin typeface="Noto Naskh Arabic"/>
              </a:defRPr>
            </a:pPr>
            <a:r>
              <a:rPr lang="fa-IR" altLang="ar-SA" sz="2200" b="1" dirty="0">
                <a:solidFill>
                  <a:srgbClr val="146442"/>
                </a:solidFill>
                <a:latin typeface="Tahoma"/>
                <a:ea typeface="Tahoma"/>
                <a:cs typeface="Tahoma"/>
                <a:sym typeface="Tahoma"/>
              </a:rPr>
              <a:t>بیشتر | وعده‌های خداوند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0C99D4-9A02-46BA-AD15-7DFF30C653E7}"/>
              </a:ext>
            </a:extLst>
          </p:cNvPr>
          <p:cNvSpPr txBox="1"/>
          <p:nvPr/>
        </p:nvSpPr>
        <p:spPr>
          <a:xfrm>
            <a:off x="14356080" y="5448526"/>
            <a:ext cx="5943600" cy="449354"/>
          </a:xfrm>
          <a:prstGeom prst="rect">
            <a:avLst/>
          </a:prstGeom>
          <a:noFill/>
        </p:spPr>
        <p:txBody>
          <a:bodyPr wrap="square" lIns="109728" tIns="9144" rIns="109728" bIns="9144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96231E"/>
                </a:solidFill>
                <a:latin typeface="Noto Naskh Arabic"/>
              </a:defRPr>
            </a:pPr>
            <a:r>
              <a:rPr lang="fa-IR" altLang="ar-SA" sz="2200" b="1" dirty="0">
                <a:solidFill>
                  <a:srgbClr val="96231E"/>
                </a:solidFill>
                <a:latin typeface="Tahoma"/>
                <a:ea typeface="Tahoma"/>
                <a:cs typeface="Tahoma"/>
                <a:sym typeface="Tahoma"/>
              </a:rPr>
              <a:t>کمتر | وعده‌های شیطان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B8D229-48C9-4166-B388-92A2F7E5A960}"/>
              </a:ext>
            </a:extLst>
          </p:cNvPr>
          <p:cNvSpPr txBox="1"/>
          <p:nvPr/>
        </p:nvSpPr>
        <p:spPr>
          <a:xfrm>
            <a:off x="7040880" y="10287768"/>
            <a:ext cx="7386320" cy="1930785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r" rtl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102D45"/>
                </a:solidFill>
                <a:latin typeface="Noto Naskh Arabic"/>
              </a:defRPr>
            </a:pPr>
            <a:r>
              <a:rPr lang="fa-IR" altLang="ar-SA" sz="2400" b="1" dirty="0">
                <a:solidFill>
                  <a:srgbClr val="102D45"/>
                </a:solidFill>
                <a:highlight>
                  <a:srgbClr val="00FF00"/>
                </a:highlight>
                <a:latin typeface="Tahoma"/>
                <a:ea typeface="Tahoma"/>
                <a:cs typeface="Tahoma"/>
                <a:sym typeface="Tahoma"/>
              </a:rPr>
              <a:t>چطوری وارد مدارهای بالاتر بشیم؟</a:t>
            </a:r>
          </a:p>
          <a:p>
            <a:pPr algn="r" rtl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102D45"/>
                </a:solidFill>
                <a:latin typeface="Noto Naskh Arabic"/>
              </a:defRPr>
            </a:pPr>
            <a:r>
              <a:rPr lang="fa-IR" altLang="ar-SA" sz="2400" b="0" dirty="0">
                <a:solidFill>
                  <a:srgbClr val="102D45"/>
                </a:solidFill>
                <a:highlight>
                  <a:srgbClr val="00FF00"/>
                </a:highlight>
                <a:latin typeface="Tahoma"/>
                <a:ea typeface="Tahoma"/>
                <a:cs typeface="Tahoma"/>
                <a:sym typeface="Tahoma"/>
              </a:rPr>
              <a:t>با ورودی‌های ذهن: همان ۵ آیه اول سوره حمد</a:t>
            </a:r>
          </a:p>
          <a:p>
            <a:pPr algn="r" rtl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102D45"/>
                </a:solidFill>
                <a:latin typeface="Noto Naskh Arabic"/>
              </a:defRPr>
            </a:pPr>
            <a:r>
              <a:rPr lang="fa-IR" altLang="ar-SA" sz="2400" b="0" dirty="0">
                <a:solidFill>
                  <a:srgbClr val="102D45"/>
                </a:solidFill>
                <a:highlight>
                  <a:srgbClr val="00FF00"/>
                </a:highlight>
                <a:latin typeface="Tahoma"/>
                <a:ea typeface="Tahoma"/>
                <a:cs typeface="Tahoma"/>
                <a:sym typeface="Tahoma"/>
              </a:rPr>
              <a:t>۱- باور فراوانی  |  ۲- باور شکرگذاری از خداوند</a:t>
            </a:r>
          </a:p>
          <a:p>
            <a:pPr algn="r" rtl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102D45"/>
                </a:solidFill>
                <a:latin typeface="Noto Naskh Arabic"/>
              </a:defRPr>
            </a:pPr>
            <a:r>
              <a:rPr lang="fa-IR" altLang="ar-SA" sz="2400" b="0" dirty="0">
                <a:solidFill>
                  <a:srgbClr val="102D45"/>
                </a:solidFill>
                <a:highlight>
                  <a:srgbClr val="00FF00"/>
                </a:highlight>
                <a:latin typeface="Tahoma"/>
                <a:ea typeface="Tahoma"/>
                <a:cs typeface="Tahoma"/>
                <a:sym typeface="Tahoma"/>
              </a:rPr>
              <a:t>۳- باور یکتاپرستی و موحد بودن  |  ۴- باور عدم شرک</a:t>
            </a:r>
          </a:p>
          <a:p>
            <a:pPr algn="r" rtl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102D45"/>
                </a:solidFill>
                <a:latin typeface="Noto Naskh Arabic"/>
              </a:defRPr>
            </a:pPr>
            <a:r>
              <a:rPr lang="fa-IR" altLang="ar-SA" sz="2400" b="0" dirty="0">
                <a:solidFill>
                  <a:srgbClr val="102D45"/>
                </a:solidFill>
                <a:highlight>
                  <a:srgbClr val="00FF00"/>
                </a:highlight>
                <a:latin typeface="Tahoma"/>
                <a:ea typeface="Tahoma"/>
                <a:cs typeface="Tahoma"/>
                <a:sym typeface="Tahoma"/>
              </a:rPr>
              <a:t>۵- قدرتی به کسی ندادن  |  ۶- ...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2919C54-033A-4F7F-9803-0549F71DCA8A}"/>
              </a:ext>
            </a:extLst>
          </p:cNvPr>
          <p:cNvSpPr txBox="1"/>
          <p:nvPr/>
        </p:nvSpPr>
        <p:spPr>
          <a:xfrm>
            <a:off x="640080" y="10698480"/>
            <a:ext cx="6400800" cy="4114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FFFFFF"/>
                </a:solidFill>
                <a:latin typeface="Noto Naskh Arabic"/>
              </a:defRPr>
            </a:pPr>
            <a:r>
              <a:rPr lang="fa-IR" altLang="ar-SA" sz="1400" b="1" dirty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مدارهای بالاتر: سبز روشن  |  مدارهای پایین‌تر: قرمز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9D5B361-62CE-4C37-8654-EEA0717C974C}"/>
              </a:ext>
            </a:extLst>
          </p:cNvPr>
          <p:cNvSpPr txBox="1"/>
          <p:nvPr/>
        </p:nvSpPr>
        <p:spPr>
          <a:xfrm>
            <a:off x="982980" y="10012680"/>
            <a:ext cx="6446520" cy="585288"/>
          </a:xfrm>
          <a:prstGeom prst="rect">
            <a:avLst/>
          </a:prstGeom>
          <a:noFill/>
        </p:spPr>
        <p:txBody>
          <a:bodyPr wrap="square" lIns="137160" rIns="137160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2400" b="1">
                <a:solidFill>
                  <a:srgbClr val="FFFFFF"/>
                </a:solidFill>
                <a:latin typeface="Noto Naskh Arabic"/>
              </a:defRPr>
            </a:pPr>
            <a:r>
              <a:rPr lang="fa-IR" altLang="ar-SA" sz="3200" b="1" dirty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عمل + باور = (خواسته‌ها − نتیجه − هدف)</a:t>
            </a:r>
          </a:p>
        </p:txBody>
      </p:sp>
    </p:spTree>
    <p:extLst>
      <p:ext uri="{BB962C8B-B14F-4D97-AF65-F5344CB8AC3E}">
        <p14:creationId xmlns:p14="http://schemas.microsoft.com/office/powerpoint/2010/main" val="1311440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907</Words>
  <Application>Microsoft Office PowerPoint</Application>
  <PresentationFormat>Custom</PresentationFormat>
  <Paragraphs>162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Noto Naskh Arabic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DELL</dc:creator>
  <cp:keywords/>
  <dc:description>generated using python-pptx</dc:description>
  <cp:lastModifiedBy>DELL</cp:lastModifiedBy>
  <cp:revision>8</cp:revision>
  <dcterms:created xsi:type="dcterms:W3CDTF">2013-01-27T09:14:16Z</dcterms:created>
  <dcterms:modified xsi:type="dcterms:W3CDTF">2026-10-22T07:27:58Z</dcterms:modified>
  <cp:category/>
</cp:coreProperties>
</file>